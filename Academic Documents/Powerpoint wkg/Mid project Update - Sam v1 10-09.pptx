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4" r:id="rId6"/>
    <p:sldId id="263" r:id="rId7"/>
    <p:sldId id="267" r:id="rId8"/>
    <p:sldId id="268" r:id="rId9"/>
    <p:sldId id="262" r:id="rId10"/>
    <p:sldId id="261" r:id="rId11"/>
    <p:sldId id="26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74" d="100"/>
          <a:sy n="74" d="100"/>
        </p:scale>
        <p:origin x="66"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1628705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3861478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1494357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2AFC869-5EEF-42A8-8244-0DD91ADCD842}" type="datetimeFigureOut">
              <a:rPr lang="en-NZ" smtClean="0"/>
              <a:t>14/09/2026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2716621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2AFC869-5EEF-42A8-8244-0DD91ADCD842}" type="datetimeFigureOut">
              <a:rPr lang="en-NZ" smtClean="0"/>
              <a:t>14/09/2026</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449199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3"/>
          <p:cNvSpPr>
            <a:spLocks noGrp="1"/>
          </p:cNvSpPr>
          <p:nvPr>
            <p:ph type="ftr" sz="quarter" idx="11"/>
          </p:nvPr>
        </p:nvSpPr>
        <p:spPr/>
        <p:txBody>
          <a:bodyPr/>
          <a:lstStyle/>
          <a:p>
            <a:endParaRPr lang="en-NZ"/>
          </a:p>
        </p:txBody>
      </p:sp>
      <p:sp>
        <p:nvSpPr>
          <p:cNvPr id="6" name="Slide Number Placeholder 4"/>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3940344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2"/>
          <p:cNvSpPr>
            <a:spLocks noGrp="1"/>
          </p:cNvSpPr>
          <p:nvPr>
            <p:ph type="ftr" sz="quarter" idx="11"/>
          </p:nvPr>
        </p:nvSpPr>
        <p:spPr/>
        <p:txBody>
          <a:bodyPr/>
          <a:lstStyle/>
          <a:p>
            <a:endParaRPr lang="en-NZ"/>
          </a:p>
        </p:txBody>
      </p:sp>
      <p:sp>
        <p:nvSpPr>
          <p:cNvPr id="6" name="Slide Number Placeholder 3"/>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2440671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5"/>
          <p:cNvSpPr>
            <a:spLocks noGrp="1"/>
          </p:cNvSpPr>
          <p:nvPr>
            <p:ph type="ftr" sz="quarter" idx="11"/>
          </p:nvPr>
        </p:nvSpPr>
        <p:spPr/>
        <p:txBody>
          <a:bodyPr/>
          <a:lstStyle/>
          <a:p>
            <a:endParaRPr lang="en-NZ"/>
          </a:p>
        </p:txBody>
      </p:sp>
      <p:sp>
        <p:nvSpPr>
          <p:cNvPr id="6" name="Slide Number Placeholder 6"/>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952096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2AFC869-5EEF-42A8-8244-0DD91ADCD842}" type="datetimeFigureOut">
              <a:rPr lang="en-NZ" smtClean="0"/>
              <a:t>14/09/2026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3353715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2AFC869-5EEF-42A8-8244-0DD91ADCD842}" type="datetimeFigureOut">
              <a:rPr lang="en-NZ" smtClean="0"/>
              <a:t>14/09/2026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853967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3715305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78314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1106739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2AFC869-5EEF-42A8-8244-0DD91ADCD842}" type="datetimeFigureOut">
              <a:rPr lang="en-NZ" smtClean="0"/>
              <a:t>14/09/2026</a:t>
            </a:fld>
            <a:endParaRPr lang="en-NZ"/>
          </a:p>
        </p:txBody>
      </p:sp>
      <p:sp>
        <p:nvSpPr>
          <p:cNvPr id="4"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3028556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2AFC869-5EEF-42A8-8244-0DD91ADCD842}" type="datetimeFigureOut">
              <a:rPr lang="en-NZ" smtClean="0"/>
              <a:t>14/09/2026</a:t>
            </a:fld>
            <a:endParaRPr lang="en-NZ"/>
          </a:p>
        </p:txBody>
      </p:sp>
      <p:sp>
        <p:nvSpPr>
          <p:cNvPr id="4"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4244418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80524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AFC869-5EEF-42A8-8244-0DD91ADCD842}" type="datetimeFigureOut">
              <a:rPr lang="en-NZ" smtClean="0"/>
              <a:t>14/09/2026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90125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2AFC869-5EEF-42A8-8244-0DD91ADCD842}" type="datetimeFigureOut">
              <a:rPr lang="en-NZ" smtClean="0"/>
              <a:t>14/09/2026</a:t>
            </a:fld>
            <a:endParaRPr lang="en-NZ"/>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NZ"/>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9C967F2-683A-4327-9830-80B5DBE0F423}" type="slidenum">
              <a:rPr lang="en-NZ" smtClean="0"/>
              <a:t>‹#›</a:t>
            </a:fld>
            <a:endParaRPr lang="en-NZ"/>
          </a:p>
        </p:txBody>
      </p:sp>
    </p:spTree>
    <p:extLst>
      <p:ext uri="{BB962C8B-B14F-4D97-AF65-F5344CB8AC3E}">
        <p14:creationId xmlns:p14="http://schemas.microsoft.com/office/powerpoint/2010/main" val="24254203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66732-8EB4-1555-C93B-2B52F0B1D0BA}"/>
              </a:ext>
            </a:extLst>
          </p:cNvPr>
          <p:cNvSpPr>
            <a:spLocks noGrp="1"/>
          </p:cNvSpPr>
          <p:nvPr>
            <p:ph type="ctrTitle"/>
          </p:nvPr>
        </p:nvSpPr>
        <p:spPr>
          <a:xfrm>
            <a:off x="1377723" y="1905000"/>
            <a:ext cx="9436553" cy="1524000"/>
          </a:xfrm>
        </p:spPr>
        <p:txBody>
          <a:bodyPr/>
          <a:lstStyle/>
          <a:p>
            <a:r>
              <a:rPr lang="en-NZ" sz="6000" dirty="0">
                <a:latin typeface="Century Gothic" panose="020B0502020202020204" pitchFamily="34" charset="0"/>
              </a:rPr>
              <a:t>Mid Project Presentation</a:t>
            </a:r>
          </a:p>
        </p:txBody>
      </p:sp>
      <p:sp>
        <p:nvSpPr>
          <p:cNvPr id="3" name="Subtitle 2">
            <a:extLst>
              <a:ext uri="{FF2B5EF4-FFF2-40B4-BE49-F238E27FC236}">
                <a16:creationId xmlns:a16="http://schemas.microsoft.com/office/drawing/2014/main" id="{1EE270E3-1A40-D82C-DD8F-0286C7E85EA5}"/>
              </a:ext>
            </a:extLst>
          </p:cNvPr>
          <p:cNvSpPr>
            <a:spLocks noGrp="1"/>
          </p:cNvSpPr>
          <p:nvPr>
            <p:ph type="subTitle" idx="1"/>
          </p:nvPr>
        </p:nvSpPr>
        <p:spPr>
          <a:xfrm>
            <a:off x="1377723" y="3429000"/>
            <a:ext cx="8825658" cy="1387929"/>
          </a:xfrm>
        </p:spPr>
        <p:txBody>
          <a:bodyPr>
            <a:normAutofit/>
          </a:bodyPr>
          <a:lstStyle/>
          <a:p>
            <a:r>
              <a:rPr lang="en-NZ" b="1" dirty="0"/>
              <a:t>Project Title: </a:t>
            </a:r>
            <a:r>
              <a:rPr lang="en-NZ" dirty="0"/>
              <a:t>AI-Enhanced vs Legacy Digital Forensics and Investigation Tools – A Comparative Efficacy Analysis</a:t>
            </a:r>
          </a:p>
          <a:p>
            <a:r>
              <a:rPr lang="en-NZ" b="1" dirty="0">
                <a:latin typeface="Century Gothic" panose="020B0502020202020204" pitchFamily="34" charset="0"/>
              </a:rPr>
              <a:t>Team name: </a:t>
            </a:r>
            <a:r>
              <a:rPr lang="en-NZ" dirty="0">
                <a:latin typeface="Century Gothic" panose="020B0502020202020204" pitchFamily="34" charset="0"/>
              </a:rPr>
              <a:t>BHB</a:t>
            </a:r>
          </a:p>
        </p:txBody>
      </p:sp>
    </p:spTree>
    <p:extLst>
      <p:ext uri="{BB962C8B-B14F-4D97-AF65-F5344CB8AC3E}">
        <p14:creationId xmlns:p14="http://schemas.microsoft.com/office/powerpoint/2010/main" val="482473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51C1-93B0-39A0-12AC-7C0C307C7469}"/>
              </a:ext>
            </a:extLst>
          </p:cNvPr>
          <p:cNvSpPr>
            <a:spLocks noGrp="1"/>
          </p:cNvSpPr>
          <p:nvPr>
            <p:ph type="title"/>
          </p:nvPr>
        </p:nvSpPr>
        <p:spPr/>
        <p:txBody>
          <a:bodyPr/>
          <a:lstStyle/>
          <a:p>
            <a:r>
              <a:rPr lang="en-NZ" dirty="0"/>
              <a:t>Attendees</a:t>
            </a:r>
          </a:p>
        </p:txBody>
      </p:sp>
      <p:sp>
        <p:nvSpPr>
          <p:cNvPr id="3" name="Content Placeholder 2">
            <a:extLst>
              <a:ext uri="{FF2B5EF4-FFF2-40B4-BE49-F238E27FC236}">
                <a16:creationId xmlns:a16="http://schemas.microsoft.com/office/drawing/2014/main" id="{BB851FEA-5D6D-CF22-67E0-7CCC76C9B905}"/>
              </a:ext>
            </a:extLst>
          </p:cNvPr>
          <p:cNvSpPr>
            <a:spLocks noGrp="1"/>
          </p:cNvSpPr>
          <p:nvPr>
            <p:ph idx="1"/>
          </p:nvPr>
        </p:nvSpPr>
        <p:spPr>
          <a:xfrm>
            <a:off x="1103312" y="2052918"/>
            <a:ext cx="4407581" cy="2274153"/>
          </a:xfrm>
          <a:ln>
            <a:solidFill>
              <a:schemeClr val="tx1"/>
            </a:solidFill>
          </a:ln>
        </p:spPr>
        <p:txBody>
          <a:bodyPr/>
          <a:lstStyle/>
          <a:p>
            <a:pPr marL="0" indent="0">
              <a:buNone/>
            </a:pPr>
            <a:r>
              <a:rPr lang="en-NZ" b="1" dirty="0">
                <a:latin typeface="+mn-lt"/>
              </a:rPr>
              <a:t>BDSH Team Members</a:t>
            </a:r>
          </a:p>
          <a:p>
            <a:r>
              <a:rPr lang="en-NZ" dirty="0">
                <a:latin typeface="+mn-lt"/>
              </a:rPr>
              <a:t>Olivia Hey (Project Manager)</a:t>
            </a:r>
          </a:p>
          <a:p>
            <a:r>
              <a:rPr lang="en-NZ" dirty="0">
                <a:latin typeface="+mn-lt"/>
              </a:rPr>
              <a:t>Matt Baker</a:t>
            </a:r>
          </a:p>
          <a:p>
            <a:r>
              <a:rPr lang="en-NZ" dirty="0">
                <a:latin typeface="+mn-lt"/>
              </a:rPr>
              <a:t>David Sushames</a:t>
            </a:r>
          </a:p>
          <a:p>
            <a:r>
              <a:rPr lang="en-NZ" dirty="0">
                <a:latin typeface="+mn-lt"/>
              </a:rPr>
              <a:t>Samuel Davies </a:t>
            </a:r>
          </a:p>
          <a:p>
            <a:pPr marL="0" indent="0">
              <a:buNone/>
            </a:pPr>
            <a:endParaRPr lang="en-NZ" dirty="0">
              <a:latin typeface="Century Gothic" panose="020B0502020202020204" pitchFamily="34" charset="0"/>
            </a:endParaRPr>
          </a:p>
        </p:txBody>
      </p:sp>
      <p:sp>
        <p:nvSpPr>
          <p:cNvPr id="6" name="Content Placeholder 2">
            <a:extLst>
              <a:ext uri="{FF2B5EF4-FFF2-40B4-BE49-F238E27FC236}">
                <a16:creationId xmlns:a16="http://schemas.microsoft.com/office/drawing/2014/main" id="{CCFDE8E8-368D-A55F-F6F5-B5FF6BC5441C}"/>
              </a:ext>
            </a:extLst>
          </p:cNvPr>
          <p:cNvSpPr txBox="1">
            <a:spLocks/>
          </p:cNvSpPr>
          <p:nvPr/>
        </p:nvSpPr>
        <p:spPr>
          <a:xfrm>
            <a:off x="5868534" y="2052918"/>
            <a:ext cx="4407581" cy="2274154"/>
          </a:xfrm>
          <a:prstGeom prst="rect">
            <a:avLst/>
          </a:prstGeom>
          <a:ln>
            <a:solidFill>
              <a:schemeClr val="tx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NZ" b="1" dirty="0">
                <a:latin typeface="+mn-lt"/>
              </a:rPr>
              <a:t>Client Members</a:t>
            </a:r>
          </a:p>
          <a:p>
            <a:r>
              <a:rPr lang="en-NZ" dirty="0"/>
              <a:t>Geoff Gordon</a:t>
            </a:r>
            <a:endParaRPr lang="en-NZ" dirty="0">
              <a:latin typeface="Century Gothic" panose="020B0502020202020204" pitchFamily="34" charset="0"/>
            </a:endParaRPr>
          </a:p>
        </p:txBody>
      </p:sp>
    </p:spTree>
    <p:extLst>
      <p:ext uri="{BB962C8B-B14F-4D97-AF65-F5344CB8AC3E}">
        <p14:creationId xmlns:p14="http://schemas.microsoft.com/office/powerpoint/2010/main" val="357720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76118-5A18-ED6E-5E3A-52957967C792}"/>
              </a:ext>
            </a:extLst>
          </p:cNvPr>
          <p:cNvSpPr>
            <a:spLocks noGrp="1"/>
          </p:cNvSpPr>
          <p:nvPr>
            <p:ph type="title"/>
          </p:nvPr>
        </p:nvSpPr>
        <p:spPr/>
        <p:txBody>
          <a:bodyPr/>
          <a:lstStyle/>
          <a:p>
            <a:r>
              <a:rPr lang="en-NZ" dirty="0">
                <a:latin typeface="Century Gothic" panose="020B0502020202020204" pitchFamily="34" charset="0"/>
              </a:rPr>
              <a:t>Topics</a:t>
            </a:r>
          </a:p>
        </p:txBody>
      </p:sp>
      <p:sp>
        <p:nvSpPr>
          <p:cNvPr id="3" name="Content Placeholder 2">
            <a:extLst>
              <a:ext uri="{FF2B5EF4-FFF2-40B4-BE49-F238E27FC236}">
                <a16:creationId xmlns:a16="http://schemas.microsoft.com/office/drawing/2014/main" id="{BB9A7524-6160-9FC8-290D-89B8A80D8658}"/>
              </a:ext>
            </a:extLst>
          </p:cNvPr>
          <p:cNvSpPr>
            <a:spLocks noGrp="1"/>
          </p:cNvSpPr>
          <p:nvPr>
            <p:ph idx="1"/>
          </p:nvPr>
        </p:nvSpPr>
        <p:spPr/>
        <p:txBody>
          <a:bodyPr/>
          <a:lstStyle/>
          <a:p>
            <a:r>
              <a:rPr lang="en-NZ" dirty="0">
                <a:latin typeface="Century Gothic" panose="020B0502020202020204" pitchFamily="34" charset="0"/>
              </a:rPr>
              <a:t>Brief description of project.</a:t>
            </a:r>
          </a:p>
          <a:p>
            <a:r>
              <a:rPr lang="en-NZ" dirty="0">
                <a:latin typeface="Century Gothic" panose="020B0502020202020204" pitchFamily="34" charset="0"/>
              </a:rPr>
              <a:t>Milestones and deliverables that have been completed.</a:t>
            </a:r>
          </a:p>
          <a:p>
            <a:r>
              <a:rPr lang="en-NZ" dirty="0">
                <a:latin typeface="Century Gothic" panose="020B0502020202020204" pitchFamily="34" charset="0"/>
              </a:rPr>
              <a:t>How progress has been made.</a:t>
            </a:r>
          </a:p>
          <a:p>
            <a:pPr lvl="1"/>
            <a:r>
              <a:rPr lang="en-NZ" dirty="0">
                <a:latin typeface="Century Gothic" panose="020B0502020202020204" pitchFamily="34" charset="0"/>
              </a:rPr>
              <a:t>Emerging insights</a:t>
            </a:r>
          </a:p>
          <a:p>
            <a:pPr lvl="1"/>
            <a:r>
              <a:rPr lang="en-NZ" dirty="0">
                <a:latin typeface="Century Gothic" panose="020B0502020202020204" pitchFamily="34" charset="0"/>
              </a:rPr>
              <a:t>Foremost proof of concept</a:t>
            </a:r>
          </a:p>
          <a:p>
            <a:r>
              <a:rPr lang="en-NZ" dirty="0">
                <a:latin typeface="Century Gothic" panose="020B0502020202020204" pitchFamily="34" charset="0"/>
              </a:rPr>
              <a:t>What is still to be done.</a:t>
            </a:r>
          </a:p>
          <a:p>
            <a:r>
              <a:rPr lang="en-NZ" dirty="0">
                <a:latin typeface="Century Gothic" panose="020B0502020202020204" pitchFamily="34" charset="0"/>
              </a:rPr>
              <a:t>Any changes to timeframes that need to be discussed</a:t>
            </a:r>
          </a:p>
          <a:p>
            <a:r>
              <a:rPr lang="en-NZ" dirty="0">
                <a:latin typeface="Century Gothic" panose="020B0502020202020204" pitchFamily="34" charset="0"/>
              </a:rPr>
              <a:t>Overall client feedback/satisfaction.</a:t>
            </a:r>
          </a:p>
          <a:p>
            <a:r>
              <a:rPr lang="en-NZ" dirty="0">
                <a:latin typeface="Century Gothic" panose="020B0502020202020204" pitchFamily="34" charset="0"/>
              </a:rPr>
              <a:t>Questions?</a:t>
            </a:r>
          </a:p>
        </p:txBody>
      </p:sp>
    </p:spTree>
    <p:extLst>
      <p:ext uri="{BB962C8B-B14F-4D97-AF65-F5344CB8AC3E}">
        <p14:creationId xmlns:p14="http://schemas.microsoft.com/office/powerpoint/2010/main" val="1717019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FEAD-9459-4F61-E636-B0591191D4E6}"/>
              </a:ext>
            </a:extLst>
          </p:cNvPr>
          <p:cNvSpPr>
            <a:spLocks noGrp="1"/>
          </p:cNvSpPr>
          <p:nvPr>
            <p:ph type="title"/>
          </p:nvPr>
        </p:nvSpPr>
        <p:spPr/>
        <p:txBody>
          <a:bodyPr/>
          <a:lstStyle/>
          <a:p>
            <a:r>
              <a:rPr lang="en-NZ" dirty="0">
                <a:latin typeface="Century Gothic" panose="020B0502020202020204" pitchFamily="34" charset="0"/>
              </a:rPr>
              <a:t>Brief description of project.</a:t>
            </a:r>
          </a:p>
        </p:txBody>
      </p:sp>
      <p:sp>
        <p:nvSpPr>
          <p:cNvPr id="3" name="Content Placeholder 2">
            <a:extLst>
              <a:ext uri="{FF2B5EF4-FFF2-40B4-BE49-F238E27FC236}">
                <a16:creationId xmlns:a16="http://schemas.microsoft.com/office/drawing/2014/main" id="{14E8D5CD-8731-2633-69BC-1AC0BBF2D643}"/>
              </a:ext>
            </a:extLst>
          </p:cNvPr>
          <p:cNvSpPr>
            <a:spLocks noGrp="1"/>
          </p:cNvSpPr>
          <p:nvPr>
            <p:ph idx="1"/>
          </p:nvPr>
        </p:nvSpPr>
        <p:spPr/>
        <p:txBody>
          <a:bodyPr/>
          <a:lstStyle/>
          <a:p>
            <a:pPr marL="0" indent="0">
              <a:buNone/>
            </a:pPr>
            <a:r>
              <a:rPr lang="en-US" dirty="0"/>
              <a:t>The project is to compare how locally-run Large Language Models (LLMs) interpret and report on Nmap, Foremost, and Wireshark outputs compared to human analysts.</a:t>
            </a:r>
            <a:endParaRPr lang="en-NZ" dirty="0"/>
          </a:p>
          <a:p>
            <a:pPr marL="0" indent="0">
              <a:buNone/>
            </a:pPr>
            <a:r>
              <a:rPr lang="en-NZ" dirty="0"/>
              <a:t>This project investigates the efficacy of the report output as generated by a human compared to an AI. </a:t>
            </a:r>
            <a:endParaRPr lang="en-NZ" dirty="0">
              <a:latin typeface="Century Gothic" panose="020B0502020202020204" pitchFamily="34" charset="0"/>
            </a:endParaRPr>
          </a:p>
        </p:txBody>
      </p:sp>
    </p:spTree>
    <p:extLst>
      <p:ext uri="{BB962C8B-B14F-4D97-AF65-F5344CB8AC3E}">
        <p14:creationId xmlns:p14="http://schemas.microsoft.com/office/powerpoint/2010/main" val="3755520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F230-3A14-B66C-477C-5A707C1E83DD}"/>
              </a:ext>
            </a:extLst>
          </p:cNvPr>
          <p:cNvSpPr>
            <a:spLocks noGrp="1"/>
          </p:cNvSpPr>
          <p:nvPr>
            <p:ph type="title"/>
          </p:nvPr>
        </p:nvSpPr>
        <p:spPr/>
        <p:txBody>
          <a:bodyPr>
            <a:normAutofit/>
          </a:bodyPr>
          <a:lstStyle/>
          <a:p>
            <a:r>
              <a:rPr lang="en-NZ" dirty="0">
                <a:latin typeface="Century Gothic" panose="020B0502020202020204" pitchFamily="34" charset="0"/>
              </a:rPr>
              <a:t>Milestones and deliverables that have been completed.</a:t>
            </a:r>
          </a:p>
        </p:txBody>
      </p:sp>
      <p:sp>
        <p:nvSpPr>
          <p:cNvPr id="3" name="Content Placeholder 2">
            <a:extLst>
              <a:ext uri="{FF2B5EF4-FFF2-40B4-BE49-F238E27FC236}">
                <a16:creationId xmlns:a16="http://schemas.microsoft.com/office/drawing/2014/main" id="{7A08BBEA-DC63-C183-A48F-6420D069B876}"/>
              </a:ext>
            </a:extLst>
          </p:cNvPr>
          <p:cNvSpPr>
            <a:spLocks noGrp="1"/>
          </p:cNvSpPr>
          <p:nvPr>
            <p:ph idx="1"/>
          </p:nvPr>
        </p:nvSpPr>
        <p:spPr/>
        <p:txBody>
          <a:bodyPr/>
          <a:lstStyle/>
          <a:p>
            <a:r>
              <a:rPr lang="en-NZ" dirty="0">
                <a:latin typeface="Century Gothic" panose="020B0502020202020204" pitchFamily="34" charset="0"/>
              </a:rPr>
              <a:t>Project proposal completion</a:t>
            </a:r>
          </a:p>
          <a:p>
            <a:r>
              <a:rPr lang="en-US" dirty="0"/>
              <a:t>All forensics tools installed</a:t>
            </a:r>
          </a:p>
          <a:p>
            <a:r>
              <a:rPr lang="en-US" dirty="0"/>
              <a:t>Created test environment</a:t>
            </a:r>
          </a:p>
          <a:p>
            <a:r>
              <a:rPr lang="en-US" dirty="0"/>
              <a:t>Adequate test case files acquired and organized them</a:t>
            </a:r>
          </a:p>
          <a:p>
            <a:r>
              <a:rPr lang="en-NZ" dirty="0"/>
              <a:t>Tested and selected AI model: Gemma4:26b</a:t>
            </a:r>
          </a:p>
          <a:p>
            <a:r>
              <a:rPr lang="en-NZ" dirty="0"/>
              <a:t>AI Foremost integration: Python script to automatically feed the carved files into the LLM and produce a report</a:t>
            </a:r>
          </a:p>
          <a:p>
            <a:pPr marL="0" indent="0">
              <a:buNone/>
            </a:pPr>
            <a:endParaRPr lang="en-NZ" dirty="0">
              <a:latin typeface="Century Gothic" panose="020B0502020202020204" pitchFamily="34" charset="0"/>
            </a:endParaRPr>
          </a:p>
          <a:p>
            <a:pPr marL="0" indent="0">
              <a:buNone/>
            </a:pPr>
            <a:endParaRPr lang="en-NZ" dirty="0">
              <a:latin typeface="Century Gothic" panose="020B0502020202020204" pitchFamily="34" charset="0"/>
            </a:endParaRPr>
          </a:p>
        </p:txBody>
      </p:sp>
    </p:spTree>
    <p:extLst>
      <p:ext uri="{BB962C8B-B14F-4D97-AF65-F5344CB8AC3E}">
        <p14:creationId xmlns:p14="http://schemas.microsoft.com/office/powerpoint/2010/main" val="1156493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07390-5D9E-D38B-8C6D-7AF59C97E173}"/>
              </a:ext>
            </a:extLst>
          </p:cNvPr>
          <p:cNvSpPr>
            <a:spLocks noGrp="1"/>
          </p:cNvSpPr>
          <p:nvPr>
            <p:ph type="title"/>
          </p:nvPr>
        </p:nvSpPr>
        <p:spPr/>
        <p:txBody>
          <a:bodyPr/>
          <a:lstStyle/>
          <a:p>
            <a:r>
              <a:rPr lang="en-NZ" dirty="0">
                <a:latin typeface="Century Gothic" panose="020B0502020202020204" pitchFamily="34" charset="0"/>
              </a:rPr>
              <a:t>How progress has been made.</a:t>
            </a:r>
          </a:p>
        </p:txBody>
      </p:sp>
      <p:sp>
        <p:nvSpPr>
          <p:cNvPr id="3" name="Content Placeholder 2">
            <a:extLst>
              <a:ext uri="{FF2B5EF4-FFF2-40B4-BE49-F238E27FC236}">
                <a16:creationId xmlns:a16="http://schemas.microsoft.com/office/drawing/2014/main" id="{CC6EEA5A-9F43-9FE8-BD39-3261513B255C}"/>
              </a:ext>
            </a:extLst>
          </p:cNvPr>
          <p:cNvSpPr>
            <a:spLocks noGrp="1"/>
          </p:cNvSpPr>
          <p:nvPr>
            <p:ph idx="1"/>
          </p:nvPr>
        </p:nvSpPr>
        <p:spPr>
          <a:xfrm>
            <a:off x="1103312" y="1575707"/>
            <a:ext cx="8946541" cy="4694464"/>
          </a:xfrm>
        </p:spPr>
        <p:txBody>
          <a:bodyPr>
            <a:normAutofit fontScale="92500" lnSpcReduction="20000"/>
          </a:bodyPr>
          <a:lstStyle/>
          <a:p>
            <a:r>
              <a:rPr lang="en-NZ" dirty="0">
                <a:latin typeface="Century Gothic" panose="020B0502020202020204" pitchFamily="34" charset="0"/>
              </a:rPr>
              <a:t>Project philosophy change; we were going and finding AI tools and comparing them to non AI versions, now we are looking at AI reports vs human reports generated based on the output of traditional digital forensics tools. </a:t>
            </a:r>
          </a:p>
          <a:p>
            <a:pPr marL="0" indent="0">
              <a:buNone/>
            </a:pPr>
            <a:endParaRPr lang="en-NZ" dirty="0">
              <a:latin typeface="Century Gothic" panose="020B0502020202020204" pitchFamily="34" charset="0"/>
            </a:endParaRPr>
          </a:p>
          <a:p>
            <a:r>
              <a:rPr lang="en-NZ" dirty="0">
                <a:latin typeface="Century Gothic" panose="020B0502020202020204" pitchFamily="34" charset="0"/>
              </a:rPr>
              <a:t>Tool scope was expanded &amp; subsequently reduced</a:t>
            </a:r>
          </a:p>
          <a:p>
            <a:pPr marL="0" indent="0">
              <a:buNone/>
            </a:pPr>
            <a:endParaRPr lang="en-NZ" dirty="0">
              <a:latin typeface="Century Gothic" panose="020B0502020202020204" pitchFamily="34" charset="0"/>
            </a:endParaRPr>
          </a:p>
          <a:p>
            <a:r>
              <a:rPr lang="en-NZ" dirty="0">
                <a:latin typeface="Century Gothic" panose="020B0502020202020204" pitchFamily="34" charset="0"/>
              </a:rPr>
              <a:t>Tools selected, Foremost, Wireshark and Nmap. </a:t>
            </a:r>
          </a:p>
          <a:p>
            <a:endParaRPr lang="en-NZ" dirty="0">
              <a:latin typeface="Century Gothic" panose="020B0502020202020204" pitchFamily="34" charset="0"/>
            </a:endParaRPr>
          </a:p>
          <a:p>
            <a:r>
              <a:rPr lang="en-NZ" dirty="0">
                <a:latin typeface="Century Gothic" panose="020B0502020202020204" pitchFamily="34" charset="0"/>
              </a:rPr>
              <a:t>New Design Science Research Methodology adopted</a:t>
            </a:r>
          </a:p>
          <a:p>
            <a:endParaRPr lang="en-NZ" dirty="0">
              <a:latin typeface="Century Gothic" panose="020B0502020202020204" pitchFamily="34" charset="0"/>
            </a:endParaRPr>
          </a:p>
          <a:p>
            <a:r>
              <a:rPr lang="en-NZ" dirty="0">
                <a:latin typeface="Century Gothic" panose="020B0502020202020204" pitchFamily="34" charset="0"/>
              </a:rPr>
              <a:t>Changed from LM studio to Ollama </a:t>
            </a:r>
          </a:p>
          <a:p>
            <a:pPr marL="0" indent="0">
              <a:buNone/>
            </a:pPr>
            <a:endParaRPr lang="en-NZ" dirty="0">
              <a:latin typeface="Century Gothic" panose="020B0502020202020204" pitchFamily="34" charset="0"/>
            </a:endParaRPr>
          </a:p>
          <a:p>
            <a:r>
              <a:rPr lang="en-NZ" dirty="0">
                <a:latin typeface="Century Gothic" panose="020B0502020202020204" pitchFamily="34" charset="0"/>
              </a:rPr>
              <a:t>Scripts became necessary to integrate AI better.</a:t>
            </a:r>
          </a:p>
          <a:p>
            <a:pPr marL="0" indent="0">
              <a:buNone/>
            </a:pPr>
            <a:endParaRPr lang="en-NZ" dirty="0">
              <a:latin typeface="Century Gothic" panose="020B0502020202020204" pitchFamily="34" charset="0"/>
            </a:endParaRPr>
          </a:p>
          <a:p>
            <a:pPr marL="0" indent="0">
              <a:buNone/>
            </a:pPr>
            <a:endParaRPr lang="en-NZ" dirty="0">
              <a:latin typeface="Century Gothic" panose="020B0502020202020204" pitchFamily="34" charset="0"/>
            </a:endParaRPr>
          </a:p>
          <a:p>
            <a:pPr lvl="1"/>
            <a:endParaRPr lang="en-NZ" dirty="0">
              <a:latin typeface="Century Gothic" panose="020B0502020202020204" pitchFamily="34" charset="0"/>
            </a:endParaRPr>
          </a:p>
          <a:p>
            <a:pPr lvl="1"/>
            <a:endParaRPr lang="en-NZ" dirty="0">
              <a:latin typeface="Century Gothic" panose="020B0502020202020204" pitchFamily="34" charset="0"/>
            </a:endParaRPr>
          </a:p>
        </p:txBody>
      </p:sp>
    </p:spTree>
    <p:extLst>
      <p:ext uri="{BB962C8B-B14F-4D97-AF65-F5344CB8AC3E}">
        <p14:creationId xmlns:p14="http://schemas.microsoft.com/office/powerpoint/2010/main" val="2530877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D38A-9B0C-F7EC-7E40-960AD3FE713C}"/>
              </a:ext>
            </a:extLst>
          </p:cNvPr>
          <p:cNvSpPr>
            <a:spLocks noGrp="1"/>
          </p:cNvSpPr>
          <p:nvPr>
            <p:ph type="title"/>
          </p:nvPr>
        </p:nvSpPr>
        <p:spPr/>
        <p:txBody>
          <a:bodyPr/>
          <a:lstStyle/>
          <a:p>
            <a:r>
              <a:rPr lang="en-NZ" dirty="0"/>
              <a:t>Foremost Proof of Concept</a:t>
            </a:r>
          </a:p>
        </p:txBody>
      </p:sp>
      <p:sp>
        <p:nvSpPr>
          <p:cNvPr id="3" name="Content Placeholder 2">
            <a:extLst>
              <a:ext uri="{FF2B5EF4-FFF2-40B4-BE49-F238E27FC236}">
                <a16:creationId xmlns:a16="http://schemas.microsoft.com/office/drawing/2014/main" id="{A1BF2D46-F7DC-B8C3-2E45-C4E0D2A1E1C9}"/>
              </a:ext>
            </a:extLst>
          </p:cNvPr>
          <p:cNvSpPr>
            <a:spLocks noGrp="1"/>
          </p:cNvSpPr>
          <p:nvPr>
            <p:ph idx="1"/>
          </p:nvPr>
        </p:nvSpPr>
        <p:spPr/>
        <p:txBody>
          <a:bodyPr/>
          <a:lstStyle/>
          <a:p>
            <a:r>
              <a:rPr lang="en-US" dirty="0"/>
              <a:t>Foremost “carves” files from forensic disk images. Disk images are bit-by-bit copies of a storage medium. File carving is an essential practice in digital forensics.</a:t>
            </a:r>
          </a:p>
          <a:p>
            <a:r>
              <a:rPr lang="en-US" dirty="0"/>
              <a:t>The team developed a Python 3 script that is used to automate the examination of the “audit.txt” file from Foremost to produce a report.</a:t>
            </a:r>
          </a:p>
          <a:p>
            <a:r>
              <a:rPr lang="en-US" dirty="0"/>
              <a:t>The script also serves to record how long the process takes.</a:t>
            </a:r>
          </a:p>
          <a:p>
            <a:r>
              <a:rPr lang="en-US" dirty="0"/>
              <a:t>This effort represents the successful development/integration of AI enhancement to a digital forensics tool.</a:t>
            </a:r>
          </a:p>
          <a:p>
            <a:endParaRPr lang="en-US" dirty="0"/>
          </a:p>
        </p:txBody>
      </p:sp>
      <p:sp>
        <p:nvSpPr>
          <p:cNvPr id="4" name="TextBox 3">
            <a:extLst>
              <a:ext uri="{FF2B5EF4-FFF2-40B4-BE49-F238E27FC236}">
                <a16:creationId xmlns:a16="http://schemas.microsoft.com/office/drawing/2014/main" id="{5CB2F7E0-7F7D-16AB-7A23-61A9A04E734F}"/>
              </a:ext>
            </a:extLst>
          </p:cNvPr>
          <p:cNvSpPr txBox="1"/>
          <p:nvPr/>
        </p:nvSpPr>
        <p:spPr>
          <a:xfrm>
            <a:off x="0" y="6898821"/>
            <a:ext cx="6278336" cy="369332"/>
          </a:xfrm>
          <a:prstGeom prst="rect">
            <a:avLst/>
          </a:prstGeom>
          <a:noFill/>
        </p:spPr>
        <p:txBody>
          <a:bodyPr wrap="square" rtlCol="0">
            <a:spAutoFit/>
          </a:bodyPr>
          <a:lstStyle/>
          <a:p>
            <a:r>
              <a:rPr lang="en-NZ" i="1" dirty="0"/>
              <a:t>And now for something completely different...</a:t>
            </a:r>
          </a:p>
        </p:txBody>
      </p:sp>
    </p:spTree>
    <p:extLst>
      <p:ext uri="{BB962C8B-B14F-4D97-AF65-F5344CB8AC3E}">
        <p14:creationId xmlns:p14="http://schemas.microsoft.com/office/powerpoint/2010/main" val="1251441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2F503-BA1E-2D45-51A6-84F7A82F23EE}"/>
              </a:ext>
            </a:extLst>
          </p:cNvPr>
          <p:cNvSpPr>
            <a:spLocks noGrp="1"/>
          </p:cNvSpPr>
          <p:nvPr>
            <p:ph type="title"/>
          </p:nvPr>
        </p:nvSpPr>
        <p:spPr/>
        <p:txBody>
          <a:bodyPr/>
          <a:lstStyle/>
          <a:p>
            <a:r>
              <a:rPr lang="en-NZ" dirty="0"/>
              <a:t>Emerging Insights</a:t>
            </a:r>
          </a:p>
        </p:txBody>
      </p:sp>
      <p:sp>
        <p:nvSpPr>
          <p:cNvPr id="3" name="Content Placeholder 2">
            <a:extLst>
              <a:ext uri="{FF2B5EF4-FFF2-40B4-BE49-F238E27FC236}">
                <a16:creationId xmlns:a16="http://schemas.microsoft.com/office/drawing/2014/main" id="{F2F109EC-CF5E-94D0-6F6D-FCD1015433D6}"/>
              </a:ext>
            </a:extLst>
          </p:cNvPr>
          <p:cNvSpPr>
            <a:spLocks noGrp="1"/>
          </p:cNvSpPr>
          <p:nvPr>
            <p:ph idx="1"/>
          </p:nvPr>
        </p:nvSpPr>
        <p:spPr>
          <a:xfrm>
            <a:off x="875201" y="1504278"/>
            <a:ext cx="8946541" cy="4195481"/>
          </a:xfrm>
        </p:spPr>
        <p:txBody>
          <a:bodyPr/>
          <a:lstStyle/>
          <a:p>
            <a:r>
              <a:rPr lang="en-US" dirty="0"/>
              <a:t>LLM-augmented Foremost reporting takes about 15-35 seconds on a disk image that takes a human examiner 30-57 minutes.</a:t>
            </a:r>
          </a:p>
          <a:p>
            <a:r>
              <a:rPr lang="en-US" dirty="0"/>
              <a:t>Documents that are too long will fail to pass all of their data into an </a:t>
            </a:r>
            <a:r>
              <a:rPr lang="en-US" dirty="0" err="1"/>
              <a:t>Ollama</a:t>
            </a:r>
            <a:r>
              <a:rPr lang="en-US" dirty="0"/>
              <a:t> prompt, this represents a significant drawback of locally hosted AI models, their limited context window, this was addressed through simple prompt chunking.</a:t>
            </a:r>
          </a:p>
          <a:p>
            <a:r>
              <a:rPr lang="en-US" dirty="0"/>
              <a:t>Vision models inspecting digital images have trouble reading small text, it will hallucinate and fabricate false information even with strict prompting, LLMs seem to have trouble asserting ignorance.</a:t>
            </a:r>
          </a:p>
          <a:p>
            <a:endParaRPr lang="en-NZ" dirty="0"/>
          </a:p>
        </p:txBody>
      </p:sp>
    </p:spTree>
    <p:extLst>
      <p:ext uri="{BB962C8B-B14F-4D97-AF65-F5344CB8AC3E}">
        <p14:creationId xmlns:p14="http://schemas.microsoft.com/office/powerpoint/2010/main" val="3959275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2EF6F-E112-DB22-11E9-44E4396BFCF0}"/>
              </a:ext>
            </a:extLst>
          </p:cNvPr>
          <p:cNvSpPr>
            <a:spLocks noGrp="1"/>
          </p:cNvSpPr>
          <p:nvPr>
            <p:ph type="title"/>
          </p:nvPr>
        </p:nvSpPr>
        <p:spPr/>
        <p:txBody>
          <a:bodyPr/>
          <a:lstStyle/>
          <a:p>
            <a:r>
              <a:rPr lang="en-NZ" dirty="0">
                <a:latin typeface="Century Gothic" panose="020B0502020202020204" pitchFamily="34" charset="0"/>
              </a:rPr>
              <a:t>What is still to be done.</a:t>
            </a:r>
          </a:p>
        </p:txBody>
      </p:sp>
      <p:sp>
        <p:nvSpPr>
          <p:cNvPr id="3" name="Content Placeholder 2">
            <a:extLst>
              <a:ext uri="{FF2B5EF4-FFF2-40B4-BE49-F238E27FC236}">
                <a16:creationId xmlns:a16="http://schemas.microsoft.com/office/drawing/2014/main" id="{E08B6175-1B96-0215-5195-3A92E08F8001}"/>
              </a:ext>
            </a:extLst>
          </p:cNvPr>
          <p:cNvSpPr>
            <a:spLocks noGrp="1"/>
          </p:cNvSpPr>
          <p:nvPr>
            <p:ph idx="1"/>
          </p:nvPr>
        </p:nvSpPr>
        <p:spPr/>
        <p:txBody>
          <a:bodyPr/>
          <a:lstStyle/>
          <a:p>
            <a:r>
              <a:rPr lang="en-NZ" dirty="0">
                <a:latin typeface="Century Gothic" panose="020B0502020202020204" pitchFamily="34" charset="0"/>
              </a:rPr>
              <a:t>Complete proof of concepts for Wireshark and Nmap</a:t>
            </a:r>
          </a:p>
          <a:p>
            <a:r>
              <a:rPr lang="en-US" dirty="0"/>
              <a:t>Finalize test metrics</a:t>
            </a:r>
          </a:p>
          <a:p>
            <a:r>
              <a:rPr lang="en-US" dirty="0"/>
              <a:t>Nmap and Wireshark integration</a:t>
            </a:r>
          </a:p>
          <a:p>
            <a:r>
              <a:rPr lang="en-US" dirty="0"/>
              <a:t>Run tests</a:t>
            </a:r>
          </a:p>
          <a:p>
            <a:r>
              <a:rPr lang="en-US" dirty="0"/>
              <a:t>Consolidate findings</a:t>
            </a:r>
          </a:p>
          <a:p>
            <a:r>
              <a:rPr lang="en-US" dirty="0"/>
              <a:t>Final report deliverable.</a:t>
            </a:r>
          </a:p>
          <a:p>
            <a:pPr marL="0" indent="0">
              <a:buNone/>
            </a:pPr>
            <a:endParaRPr lang="en-US" dirty="0"/>
          </a:p>
          <a:p>
            <a:endParaRPr lang="en-NZ" dirty="0">
              <a:latin typeface="Century Gothic" panose="020B0502020202020204" pitchFamily="34" charset="0"/>
            </a:endParaRPr>
          </a:p>
          <a:p>
            <a:endParaRPr lang="en-NZ" dirty="0">
              <a:latin typeface="Century Gothic" panose="020B0502020202020204" pitchFamily="34" charset="0"/>
            </a:endParaRPr>
          </a:p>
        </p:txBody>
      </p:sp>
    </p:spTree>
    <p:extLst>
      <p:ext uri="{BB962C8B-B14F-4D97-AF65-F5344CB8AC3E}">
        <p14:creationId xmlns:p14="http://schemas.microsoft.com/office/powerpoint/2010/main" val="2360615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5CB6E-FD33-4419-FD29-5EB30403054C}"/>
              </a:ext>
            </a:extLst>
          </p:cNvPr>
          <p:cNvSpPr>
            <a:spLocks noGrp="1"/>
          </p:cNvSpPr>
          <p:nvPr>
            <p:ph type="title"/>
          </p:nvPr>
        </p:nvSpPr>
        <p:spPr/>
        <p:txBody>
          <a:bodyPr>
            <a:normAutofit/>
          </a:bodyPr>
          <a:lstStyle/>
          <a:p>
            <a:r>
              <a:rPr lang="en-NZ" dirty="0">
                <a:latin typeface="Century Gothic" panose="020B0502020202020204" pitchFamily="34" charset="0"/>
              </a:rPr>
              <a:t>Changes to timeframe.</a:t>
            </a:r>
          </a:p>
        </p:txBody>
      </p:sp>
      <p:sp>
        <p:nvSpPr>
          <p:cNvPr id="3" name="Content Placeholder 2">
            <a:extLst>
              <a:ext uri="{FF2B5EF4-FFF2-40B4-BE49-F238E27FC236}">
                <a16:creationId xmlns:a16="http://schemas.microsoft.com/office/drawing/2014/main" id="{F342F351-5F23-6D92-03AC-5C25C11D2796}"/>
              </a:ext>
            </a:extLst>
          </p:cNvPr>
          <p:cNvSpPr>
            <a:spLocks noGrp="1"/>
          </p:cNvSpPr>
          <p:nvPr>
            <p:ph idx="1"/>
          </p:nvPr>
        </p:nvSpPr>
        <p:spPr/>
        <p:txBody>
          <a:bodyPr/>
          <a:lstStyle/>
          <a:p>
            <a:r>
              <a:rPr lang="en-NZ" dirty="0">
                <a:latin typeface="Century Gothic" panose="020B0502020202020204" pitchFamily="34" charset="0"/>
              </a:rPr>
              <a:t>The time frame has been shifted due to Capstone proposal taking longer than expected. </a:t>
            </a:r>
          </a:p>
          <a:p>
            <a:r>
              <a:rPr lang="en-NZ" dirty="0">
                <a:latin typeface="Century Gothic" panose="020B0502020202020204" pitchFamily="34" charset="0"/>
              </a:rPr>
              <a:t>This pushes squeezes the final deadline closer.</a:t>
            </a:r>
          </a:p>
        </p:txBody>
      </p:sp>
    </p:spTree>
    <p:extLst>
      <p:ext uri="{BB962C8B-B14F-4D97-AF65-F5344CB8AC3E}">
        <p14:creationId xmlns:p14="http://schemas.microsoft.com/office/powerpoint/2010/main" val="68356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F9A50-08D3-B5BA-98EE-2A5CB574A435}"/>
              </a:ext>
            </a:extLst>
          </p:cNvPr>
          <p:cNvSpPr>
            <a:spLocks noGrp="1"/>
          </p:cNvSpPr>
          <p:nvPr>
            <p:ph type="title"/>
          </p:nvPr>
        </p:nvSpPr>
        <p:spPr>
          <a:xfrm>
            <a:off x="1177584" y="2728735"/>
            <a:ext cx="9836832" cy="1400530"/>
          </a:xfrm>
        </p:spPr>
        <p:txBody>
          <a:bodyPr/>
          <a:lstStyle/>
          <a:p>
            <a:r>
              <a:rPr lang="en-NZ" dirty="0">
                <a:latin typeface="Century Gothic" panose="020B0502020202020204" pitchFamily="34" charset="0"/>
              </a:rPr>
              <a:t>Overall client feedback/satisfaction </a:t>
            </a:r>
          </a:p>
        </p:txBody>
      </p:sp>
    </p:spTree>
    <p:extLst>
      <p:ext uri="{BB962C8B-B14F-4D97-AF65-F5344CB8AC3E}">
        <p14:creationId xmlns:p14="http://schemas.microsoft.com/office/powerpoint/2010/main" val="3009353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1750</TotalTime>
  <Words>535</Words>
  <Application>Microsoft Office PowerPoint</Application>
  <PresentationFormat>Widescreen</PresentationFormat>
  <Paragraphs>67</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Century Gothic</vt:lpstr>
      <vt:lpstr>Wingdings 3</vt:lpstr>
      <vt:lpstr>Ion</vt:lpstr>
      <vt:lpstr>Mid Project Presentation</vt:lpstr>
      <vt:lpstr>Attendees</vt:lpstr>
      <vt:lpstr>Topics</vt:lpstr>
      <vt:lpstr>Brief description of project.</vt:lpstr>
      <vt:lpstr>Milestones and deliverables that have been completed.</vt:lpstr>
      <vt:lpstr>How progress has been made.</vt:lpstr>
      <vt:lpstr>Foremost Proof of Concept</vt:lpstr>
      <vt:lpstr>Emerging Insights</vt:lpstr>
      <vt:lpstr>What is still to be done.</vt:lpstr>
      <vt:lpstr>Changes to timeframe.</vt:lpstr>
      <vt:lpstr>Overall client feedback/satisfaction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Davies</dc:creator>
  <cp:lastModifiedBy>Matt Baker</cp:lastModifiedBy>
  <cp:revision>16</cp:revision>
  <dcterms:created xsi:type="dcterms:W3CDTF">2026-09-07T23:48:56Z</dcterms:created>
  <dcterms:modified xsi:type="dcterms:W3CDTF">2026-09-14T02:16:35Z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e7f387-1815-4007-b22e-dbfac1fba8aa_Enabled">
    <vt:lpwstr>true</vt:lpwstr>
  </property>
  <property fmtid="{D5CDD505-2E9C-101B-9397-08002B2CF9AE}" pid="3" name="MSIP_Label_46e7f387-1815-4007-b22e-dbfac1fba8aa_SetDate">
    <vt:lpwstr>2026-09-07T23:48:56Z</vt:lpwstr>
  </property>
  <property fmtid="{D5CDD505-2E9C-101B-9397-08002B2CF9AE}" pid="4" name="MSIP_Label_46e7f387-1815-4007-b22e-dbfac1fba8aa_Method">
    <vt:lpwstr>Standard</vt:lpwstr>
  </property>
  <property fmtid="{D5CDD505-2E9C-101B-9397-08002B2CF9AE}" pid="5" name="MSIP_Label_46e7f387-1815-4007-b22e-dbfac1fba8aa_Name">
    <vt:lpwstr>defa4170-0d19-0005-0004-bc88714345d2</vt:lpwstr>
  </property>
  <property fmtid="{D5CDD505-2E9C-101B-9397-08002B2CF9AE}" pid="6" name="MSIP_Label_46e7f387-1815-4007-b22e-dbfac1fba8aa_SiteId">
    <vt:lpwstr>1ae31382-9a17-4ce4-b300-161b0fa8f4b8</vt:lpwstr>
  </property>
  <property fmtid="{D5CDD505-2E9C-101B-9397-08002B2CF9AE}" pid="7" name="MSIP_Label_46e7f387-1815-4007-b22e-dbfac1fba8aa_ActionId">
    <vt:lpwstr>157ff331-9569-4325-b3ba-e4c568c88a67</vt:lpwstr>
  </property>
  <property fmtid="{D5CDD505-2E9C-101B-9397-08002B2CF9AE}" pid="8" name="MSIP_Label_46e7f387-1815-4007-b22e-dbfac1fba8aa_ContentBits">
    <vt:lpwstr>0</vt:lpwstr>
  </property>
  <property fmtid="{D5CDD505-2E9C-101B-9397-08002B2CF9AE}" pid="9" name="MSIP_Label_46e7f387-1815-4007-b22e-dbfac1fba8aa_Tag">
    <vt:lpwstr>10, 3, 0, 1</vt:lpwstr>
  </property>
</Properties>
</file>