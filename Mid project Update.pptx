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6" r:id="rId3"/>
    <p:sldId id="257" r:id="rId4"/>
    <p:sldId id="258" r:id="rId5"/>
    <p:sldId id="259" r:id="rId6"/>
    <p:sldId id="264" r:id="rId7"/>
    <p:sldId id="263" r:id="rId8"/>
    <p:sldId id="267" r:id="rId9"/>
    <p:sldId id="268" r:id="rId10"/>
    <p:sldId id="262" r:id="rId11"/>
    <p:sldId id="261" r:id="rId12"/>
    <p:sldId id="260" r:id="rId13"/>
    <p:sldId id="265"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79" d="100"/>
          <a:sy n="79" d="100"/>
        </p:scale>
        <p:origin x="120" y="17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GB"/>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82AFC869-5EEF-42A8-8244-0DD91ADCD842}" type="datetimeFigureOut">
              <a:rPr lang="en-NZ" smtClean="0"/>
              <a:t>12/09/2026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59C967F2-683A-4327-9830-80B5DBE0F423}" type="slidenum">
              <a:rPr lang="en-NZ" smtClean="0"/>
              <a:t>‹#›</a:t>
            </a:fld>
            <a:endParaRPr lang="en-NZ"/>
          </a:p>
        </p:txBody>
      </p:sp>
    </p:spTree>
    <p:extLst>
      <p:ext uri="{BB962C8B-B14F-4D97-AF65-F5344CB8AC3E}">
        <p14:creationId xmlns:p14="http://schemas.microsoft.com/office/powerpoint/2010/main" val="16287051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3"/>
          <p:cNvSpPr>
            <a:spLocks noGrp="1"/>
          </p:cNvSpPr>
          <p:nvPr>
            <p:ph type="dt" sz="half" idx="10"/>
          </p:nvPr>
        </p:nvSpPr>
        <p:spPr/>
        <p:txBody>
          <a:bodyPr/>
          <a:lstStyle/>
          <a:p>
            <a:fld id="{82AFC869-5EEF-42A8-8244-0DD91ADCD842}" type="datetimeFigureOut">
              <a:rPr lang="en-NZ" smtClean="0"/>
              <a:t>12/09/2026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59C967F2-683A-4327-9830-80B5DBE0F423}" type="slidenum">
              <a:rPr lang="en-NZ" smtClean="0"/>
              <a:t>‹#›</a:t>
            </a:fld>
            <a:endParaRPr lang="en-NZ"/>
          </a:p>
        </p:txBody>
      </p:sp>
    </p:spTree>
    <p:extLst>
      <p:ext uri="{BB962C8B-B14F-4D97-AF65-F5344CB8AC3E}">
        <p14:creationId xmlns:p14="http://schemas.microsoft.com/office/powerpoint/2010/main" val="38614787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2AFC869-5EEF-42A8-8244-0DD91ADCD842}" type="datetimeFigureOut">
              <a:rPr lang="en-NZ" smtClean="0"/>
              <a:t>12/09/2026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59C967F2-683A-4327-9830-80B5DBE0F423}" type="slidenum">
              <a:rPr lang="en-NZ" smtClean="0"/>
              <a:t>‹#›</a:t>
            </a:fld>
            <a:endParaRPr lang="en-NZ"/>
          </a:p>
        </p:txBody>
      </p:sp>
    </p:spTree>
    <p:extLst>
      <p:ext uri="{BB962C8B-B14F-4D97-AF65-F5344CB8AC3E}">
        <p14:creationId xmlns:p14="http://schemas.microsoft.com/office/powerpoint/2010/main" val="1494357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82AFC869-5EEF-42A8-8244-0DD91ADCD842}" type="datetimeFigureOut">
              <a:rPr lang="en-NZ" smtClean="0"/>
              <a:t>12/09/2026</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59C967F2-683A-4327-9830-80B5DBE0F423}" type="slidenum">
              <a:rPr lang="en-NZ" smtClean="0"/>
              <a:t>‹#›</a:t>
            </a:fld>
            <a:endParaRPr lang="en-NZ"/>
          </a:p>
        </p:txBody>
      </p:sp>
    </p:spTree>
    <p:extLst>
      <p:ext uri="{BB962C8B-B14F-4D97-AF65-F5344CB8AC3E}">
        <p14:creationId xmlns:p14="http://schemas.microsoft.com/office/powerpoint/2010/main" val="27166210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82AFC869-5EEF-42A8-8244-0DD91ADCD842}" type="datetimeFigureOut">
              <a:rPr lang="en-NZ" smtClean="0"/>
              <a:t>12/09/2026</a:t>
            </a:fld>
            <a:endParaRPr lang="en-NZ"/>
          </a:p>
        </p:txBody>
      </p:sp>
      <p:sp>
        <p:nvSpPr>
          <p:cNvPr id="8" name="Footer Placeholder 7"/>
          <p:cNvSpPr>
            <a:spLocks noGrp="1"/>
          </p:cNvSpPr>
          <p:nvPr>
            <p:ph type="ftr" sz="quarter" idx="11"/>
          </p:nvPr>
        </p:nvSpPr>
        <p:spPr/>
        <p:txBody>
          <a:bodyPr/>
          <a:lstStyle/>
          <a:p>
            <a:endParaRPr lang="en-NZ"/>
          </a:p>
        </p:txBody>
      </p:sp>
      <p:sp>
        <p:nvSpPr>
          <p:cNvPr id="9" name="Slide Number Placeholder 8"/>
          <p:cNvSpPr>
            <a:spLocks noGrp="1"/>
          </p:cNvSpPr>
          <p:nvPr>
            <p:ph type="sldNum" sz="quarter" idx="12"/>
          </p:nvPr>
        </p:nvSpPr>
        <p:spPr/>
        <p:txBody>
          <a:bodyPr/>
          <a:lstStyle/>
          <a:p>
            <a:fld id="{59C967F2-683A-4327-9830-80B5DBE0F423}" type="slidenum">
              <a:rPr lang="en-NZ" smtClean="0"/>
              <a:t>‹#›</a:t>
            </a:fld>
            <a:endParaRPr lang="en-NZ"/>
          </a:p>
        </p:txBody>
      </p:sp>
    </p:spTree>
    <p:extLst>
      <p:ext uri="{BB962C8B-B14F-4D97-AF65-F5344CB8AC3E}">
        <p14:creationId xmlns:p14="http://schemas.microsoft.com/office/powerpoint/2010/main" val="449199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7" name="Date Placeholder 2"/>
          <p:cNvSpPr>
            <a:spLocks noGrp="1"/>
          </p:cNvSpPr>
          <p:nvPr>
            <p:ph type="dt" sz="half" idx="10"/>
          </p:nvPr>
        </p:nvSpPr>
        <p:spPr/>
        <p:txBody>
          <a:bodyPr/>
          <a:lstStyle/>
          <a:p>
            <a:fld id="{82AFC869-5EEF-42A8-8244-0DD91ADCD842}" type="datetimeFigureOut">
              <a:rPr lang="en-NZ" smtClean="0"/>
              <a:t>12/09/2026</a:t>
            </a:fld>
            <a:endParaRPr lang="en-NZ"/>
          </a:p>
        </p:txBody>
      </p:sp>
      <p:sp>
        <p:nvSpPr>
          <p:cNvPr id="5" name="Footer Placeholder 3"/>
          <p:cNvSpPr>
            <a:spLocks noGrp="1"/>
          </p:cNvSpPr>
          <p:nvPr>
            <p:ph type="ftr" sz="quarter" idx="11"/>
          </p:nvPr>
        </p:nvSpPr>
        <p:spPr/>
        <p:txBody>
          <a:bodyPr/>
          <a:lstStyle/>
          <a:p>
            <a:endParaRPr lang="en-NZ"/>
          </a:p>
        </p:txBody>
      </p:sp>
      <p:sp>
        <p:nvSpPr>
          <p:cNvPr id="6" name="Slide Number Placeholder 4"/>
          <p:cNvSpPr>
            <a:spLocks noGrp="1"/>
          </p:cNvSpPr>
          <p:nvPr>
            <p:ph type="sldNum" sz="quarter" idx="12"/>
          </p:nvPr>
        </p:nvSpPr>
        <p:spPr/>
        <p:txBody>
          <a:bodyPr/>
          <a:lstStyle/>
          <a:p>
            <a:fld id="{59C967F2-683A-4327-9830-80B5DBE0F423}" type="slidenum">
              <a:rPr lang="en-NZ" smtClean="0"/>
              <a:t>‹#›</a:t>
            </a:fld>
            <a:endParaRPr lang="en-NZ"/>
          </a:p>
        </p:txBody>
      </p:sp>
    </p:spTree>
    <p:extLst>
      <p:ext uri="{BB962C8B-B14F-4D97-AF65-F5344CB8AC3E}">
        <p14:creationId xmlns:p14="http://schemas.microsoft.com/office/powerpoint/2010/main" val="39403446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82AFC869-5EEF-42A8-8244-0DD91ADCD842}" type="datetimeFigureOut">
              <a:rPr lang="en-NZ" smtClean="0"/>
              <a:t>12/09/2026</a:t>
            </a:fld>
            <a:endParaRPr lang="en-NZ"/>
          </a:p>
        </p:txBody>
      </p:sp>
      <p:sp>
        <p:nvSpPr>
          <p:cNvPr id="5" name="Footer Placeholder 2"/>
          <p:cNvSpPr>
            <a:spLocks noGrp="1"/>
          </p:cNvSpPr>
          <p:nvPr>
            <p:ph type="ftr" sz="quarter" idx="11"/>
          </p:nvPr>
        </p:nvSpPr>
        <p:spPr/>
        <p:txBody>
          <a:bodyPr/>
          <a:lstStyle/>
          <a:p>
            <a:endParaRPr lang="en-NZ"/>
          </a:p>
        </p:txBody>
      </p:sp>
      <p:sp>
        <p:nvSpPr>
          <p:cNvPr id="6" name="Slide Number Placeholder 3"/>
          <p:cNvSpPr>
            <a:spLocks noGrp="1"/>
          </p:cNvSpPr>
          <p:nvPr>
            <p:ph type="sldNum" sz="quarter" idx="12"/>
          </p:nvPr>
        </p:nvSpPr>
        <p:spPr/>
        <p:txBody>
          <a:bodyPr/>
          <a:lstStyle/>
          <a:p>
            <a:fld id="{59C967F2-683A-4327-9830-80B5DBE0F423}" type="slidenum">
              <a:rPr lang="en-NZ" smtClean="0"/>
              <a:t>‹#›</a:t>
            </a:fld>
            <a:endParaRPr lang="en-NZ"/>
          </a:p>
        </p:txBody>
      </p:sp>
    </p:spTree>
    <p:extLst>
      <p:ext uri="{BB962C8B-B14F-4D97-AF65-F5344CB8AC3E}">
        <p14:creationId xmlns:p14="http://schemas.microsoft.com/office/powerpoint/2010/main" val="24406712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GB"/>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7" name="Date Placeholder 4"/>
          <p:cNvSpPr>
            <a:spLocks noGrp="1"/>
          </p:cNvSpPr>
          <p:nvPr>
            <p:ph type="dt" sz="half" idx="10"/>
          </p:nvPr>
        </p:nvSpPr>
        <p:spPr/>
        <p:txBody>
          <a:bodyPr/>
          <a:lstStyle/>
          <a:p>
            <a:fld id="{82AFC869-5EEF-42A8-8244-0DD91ADCD842}" type="datetimeFigureOut">
              <a:rPr lang="en-NZ" smtClean="0"/>
              <a:t>12/09/2026</a:t>
            </a:fld>
            <a:endParaRPr lang="en-NZ"/>
          </a:p>
        </p:txBody>
      </p:sp>
      <p:sp>
        <p:nvSpPr>
          <p:cNvPr id="5" name="Footer Placeholder 5"/>
          <p:cNvSpPr>
            <a:spLocks noGrp="1"/>
          </p:cNvSpPr>
          <p:nvPr>
            <p:ph type="ftr" sz="quarter" idx="11"/>
          </p:nvPr>
        </p:nvSpPr>
        <p:spPr/>
        <p:txBody>
          <a:bodyPr/>
          <a:lstStyle/>
          <a:p>
            <a:endParaRPr lang="en-NZ"/>
          </a:p>
        </p:txBody>
      </p:sp>
      <p:sp>
        <p:nvSpPr>
          <p:cNvPr id="6" name="Slide Number Placeholder 6"/>
          <p:cNvSpPr>
            <a:spLocks noGrp="1"/>
          </p:cNvSpPr>
          <p:nvPr>
            <p:ph type="sldNum" sz="quarter" idx="12"/>
          </p:nvPr>
        </p:nvSpPr>
        <p:spPr/>
        <p:txBody>
          <a:bodyPr/>
          <a:lstStyle/>
          <a:p>
            <a:fld id="{59C967F2-683A-4327-9830-80B5DBE0F423}" type="slidenum">
              <a:rPr lang="en-NZ" smtClean="0"/>
              <a:t>‹#›</a:t>
            </a:fld>
            <a:endParaRPr lang="en-NZ"/>
          </a:p>
        </p:txBody>
      </p:sp>
    </p:spTree>
    <p:extLst>
      <p:ext uri="{BB962C8B-B14F-4D97-AF65-F5344CB8AC3E}">
        <p14:creationId xmlns:p14="http://schemas.microsoft.com/office/powerpoint/2010/main" val="952096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82AFC869-5EEF-42A8-8244-0DD91ADCD842}" type="datetimeFigureOut">
              <a:rPr lang="en-NZ" smtClean="0"/>
              <a:t>12/09/2026</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59C967F2-683A-4327-9830-80B5DBE0F423}" type="slidenum">
              <a:rPr lang="en-NZ" smtClean="0"/>
              <a:t>‹#›</a:t>
            </a:fld>
            <a:endParaRPr lang="en-NZ"/>
          </a:p>
        </p:txBody>
      </p:sp>
    </p:spTree>
    <p:extLst>
      <p:ext uri="{BB962C8B-B14F-4D97-AF65-F5344CB8AC3E}">
        <p14:creationId xmlns:p14="http://schemas.microsoft.com/office/powerpoint/2010/main" val="3353715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82AFC869-5EEF-42A8-8244-0DD91ADCD842}" type="datetimeFigureOut">
              <a:rPr lang="en-NZ" smtClean="0"/>
              <a:t>12/09/2026</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59C967F2-683A-4327-9830-80B5DBE0F423}" type="slidenum">
              <a:rPr lang="en-NZ" smtClean="0"/>
              <a:t>‹#›</a:t>
            </a:fld>
            <a:endParaRPr lang="en-NZ"/>
          </a:p>
        </p:txBody>
      </p:sp>
    </p:spTree>
    <p:extLst>
      <p:ext uri="{BB962C8B-B14F-4D97-AF65-F5344CB8AC3E}">
        <p14:creationId xmlns:p14="http://schemas.microsoft.com/office/powerpoint/2010/main" val="853967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GB"/>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82AFC869-5EEF-42A8-8244-0DD91ADCD842}" type="datetimeFigureOut">
              <a:rPr lang="en-NZ" smtClean="0"/>
              <a:t>12/09/2026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59C967F2-683A-4327-9830-80B5DBE0F423}" type="slidenum">
              <a:rPr lang="en-NZ" smtClean="0"/>
              <a:t>‹#›</a:t>
            </a:fld>
            <a:endParaRPr lang="en-NZ"/>
          </a:p>
        </p:txBody>
      </p:sp>
    </p:spTree>
    <p:extLst>
      <p:ext uri="{BB962C8B-B14F-4D97-AF65-F5344CB8AC3E}">
        <p14:creationId xmlns:p14="http://schemas.microsoft.com/office/powerpoint/2010/main" val="37153050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GB"/>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GB"/>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82AFC869-5EEF-42A8-8244-0DD91ADCD842}" type="datetimeFigureOut">
              <a:rPr lang="en-NZ" smtClean="0"/>
              <a:t>12/09/2026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59C967F2-683A-4327-9830-80B5DBE0F423}" type="slidenum">
              <a:rPr lang="en-NZ" smtClean="0"/>
              <a:t>‹#›</a:t>
            </a:fld>
            <a:endParaRPr lang="en-NZ"/>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978314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2AFC869-5EEF-42A8-8244-0DD91ADCD842}" type="datetimeFigureOut">
              <a:rPr lang="en-NZ" smtClean="0"/>
              <a:t>12/09/2026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59C967F2-683A-4327-9830-80B5DBE0F423}" type="slidenum">
              <a:rPr lang="en-NZ" smtClean="0"/>
              <a:t>‹#›</a:t>
            </a:fld>
            <a:endParaRPr lang="en-NZ"/>
          </a:p>
        </p:txBody>
      </p:sp>
    </p:spTree>
    <p:extLst>
      <p:ext uri="{BB962C8B-B14F-4D97-AF65-F5344CB8AC3E}">
        <p14:creationId xmlns:p14="http://schemas.microsoft.com/office/powerpoint/2010/main" val="11067391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GB"/>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2AFC869-5EEF-42A8-8244-0DD91ADCD842}" type="datetimeFigureOut">
              <a:rPr lang="en-NZ" smtClean="0"/>
              <a:t>12/09/2026</a:t>
            </a:fld>
            <a:endParaRPr lang="en-NZ"/>
          </a:p>
        </p:txBody>
      </p:sp>
      <p:sp>
        <p:nvSpPr>
          <p:cNvPr id="4"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59C967F2-683A-4327-9830-80B5DBE0F423}" type="slidenum">
              <a:rPr lang="en-NZ" smtClean="0"/>
              <a:t>‹#›</a:t>
            </a:fld>
            <a:endParaRPr lang="en-NZ"/>
          </a:p>
        </p:txBody>
      </p:sp>
    </p:spTree>
    <p:extLst>
      <p:ext uri="{BB962C8B-B14F-4D97-AF65-F5344CB8AC3E}">
        <p14:creationId xmlns:p14="http://schemas.microsoft.com/office/powerpoint/2010/main" val="30285561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GB"/>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2AFC869-5EEF-42A8-8244-0DD91ADCD842}" type="datetimeFigureOut">
              <a:rPr lang="en-NZ" smtClean="0"/>
              <a:t>12/09/2026</a:t>
            </a:fld>
            <a:endParaRPr lang="en-NZ"/>
          </a:p>
        </p:txBody>
      </p:sp>
      <p:sp>
        <p:nvSpPr>
          <p:cNvPr id="4"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59C967F2-683A-4327-9830-80B5DBE0F423}" type="slidenum">
              <a:rPr lang="en-NZ" smtClean="0"/>
              <a:t>‹#›</a:t>
            </a:fld>
            <a:endParaRPr lang="en-NZ"/>
          </a:p>
        </p:txBody>
      </p:sp>
    </p:spTree>
    <p:extLst>
      <p:ext uri="{BB962C8B-B14F-4D97-AF65-F5344CB8AC3E}">
        <p14:creationId xmlns:p14="http://schemas.microsoft.com/office/powerpoint/2010/main" val="42444181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2AFC869-5EEF-42A8-8244-0DD91ADCD842}" type="datetimeFigureOut">
              <a:rPr lang="en-NZ" smtClean="0"/>
              <a:t>12/09/2026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59C967F2-683A-4327-9830-80B5DBE0F423}" type="slidenum">
              <a:rPr lang="en-NZ" smtClean="0"/>
              <a:t>‹#›</a:t>
            </a:fld>
            <a:endParaRPr lang="en-NZ"/>
          </a:p>
        </p:txBody>
      </p:sp>
    </p:spTree>
    <p:extLst>
      <p:ext uri="{BB962C8B-B14F-4D97-AF65-F5344CB8AC3E}">
        <p14:creationId xmlns:p14="http://schemas.microsoft.com/office/powerpoint/2010/main" val="805248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GB"/>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2AFC869-5EEF-42A8-8244-0DD91ADCD842}" type="datetimeFigureOut">
              <a:rPr lang="en-NZ" smtClean="0"/>
              <a:t>12/09/2026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59C967F2-683A-4327-9830-80B5DBE0F423}" type="slidenum">
              <a:rPr lang="en-NZ" smtClean="0"/>
              <a:t>‹#›</a:t>
            </a:fld>
            <a:endParaRPr lang="en-NZ"/>
          </a:p>
        </p:txBody>
      </p:sp>
    </p:spTree>
    <p:extLst>
      <p:ext uri="{BB962C8B-B14F-4D97-AF65-F5344CB8AC3E}">
        <p14:creationId xmlns:p14="http://schemas.microsoft.com/office/powerpoint/2010/main" val="901257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Z"/>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NZ"/>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GB"/>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82AFC869-5EEF-42A8-8244-0DD91ADCD842}" type="datetimeFigureOut">
              <a:rPr lang="en-NZ" smtClean="0"/>
              <a:t>12/09/2026</a:t>
            </a:fld>
            <a:endParaRPr lang="en-NZ"/>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NZ"/>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59C967F2-683A-4327-9830-80B5DBE0F423}" type="slidenum">
              <a:rPr lang="en-NZ" smtClean="0"/>
              <a:t>‹#›</a:t>
            </a:fld>
            <a:endParaRPr lang="en-NZ"/>
          </a:p>
        </p:txBody>
      </p:sp>
    </p:spTree>
    <p:extLst>
      <p:ext uri="{BB962C8B-B14F-4D97-AF65-F5344CB8AC3E}">
        <p14:creationId xmlns:p14="http://schemas.microsoft.com/office/powerpoint/2010/main" val="24254203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66732-8EB4-1555-C93B-2B52F0B1D0BA}"/>
              </a:ext>
            </a:extLst>
          </p:cNvPr>
          <p:cNvSpPr>
            <a:spLocks noGrp="1"/>
          </p:cNvSpPr>
          <p:nvPr>
            <p:ph type="ctrTitle"/>
          </p:nvPr>
        </p:nvSpPr>
        <p:spPr/>
        <p:txBody>
          <a:bodyPr/>
          <a:lstStyle/>
          <a:p>
            <a:r>
              <a:rPr lang="en-NZ" dirty="0">
                <a:latin typeface="Century Gothic" panose="020B0502020202020204" pitchFamily="34" charset="0"/>
              </a:rPr>
              <a:t>Mid Project Presentation</a:t>
            </a:r>
          </a:p>
        </p:txBody>
      </p:sp>
      <p:sp>
        <p:nvSpPr>
          <p:cNvPr id="3" name="Subtitle 2">
            <a:extLst>
              <a:ext uri="{FF2B5EF4-FFF2-40B4-BE49-F238E27FC236}">
                <a16:creationId xmlns:a16="http://schemas.microsoft.com/office/drawing/2014/main" id="{1EE270E3-1A40-D82C-DD8F-0286C7E85EA5}"/>
              </a:ext>
            </a:extLst>
          </p:cNvPr>
          <p:cNvSpPr>
            <a:spLocks noGrp="1"/>
          </p:cNvSpPr>
          <p:nvPr>
            <p:ph type="subTitle" idx="1"/>
          </p:nvPr>
        </p:nvSpPr>
        <p:spPr/>
        <p:txBody>
          <a:bodyPr/>
          <a:lstStyle/>
          <a:p>
            <a:r>
              <a:rPr lang="en-NZ" dirty="0">
                <a:latin typeface="Century Gothic" panose="020B0502020202020204" pitchFamily="34" charset="0"/>
              </a:rPr>
              <a:t>BHB Capstone project</a:t>
            </a:r>
          </a:p>
          <a:p>
            <a:r>
              <a:rPr lang="en-NZ" dirty="0">
                <a:latin typeface="Century Gothic" panose="020B0502020202020204" pitchFamily="34" charset="0"/>
              </a:rPr>
              <a:t>Week 10</a:t>
            </a:r>
          </a:p>
        </p:txBody>
      </p:sp>
    </p:spTree>
    <p:extLst>
      <p:ext uri="{BB962C8B-B14F-4D97-AF65-F5344CB8AC3E}">
        <p14:creationId xmlns:p14="http://schemas.microsoft.com/office/powerpoint/2010/main" val="4824739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E0C20-57B8-B33E-EA29-F1EB71F84B9C}"/>
              </a:ext>
            </a:extLst>
          </p:cNvPr>
          <p:cNvSpPr>
            <a:spLocks noGrp="1"/>
          </p:cNvSpPr>
          <p:nvPr>
            <p:ph type="title"/>
          </p:nvPr>
        </p:nvSpPr>
        <p:spPr/>
        <p:txBody>
          <a:bodyPr/>
          <a:lstStyle/>
          <a:p>
            <a:r>
              <a:rPr lang="en-NZ" dirty="0"/>
              <a:t>Learning Outcomes (LOs)</a:t>
            </a:r>
          </a:p>
        </p:txBody>
      </p:sp>
      <p:sp>
        <p:nvSpPr>
          <p:cNvPr id="3" name="Content Placeholder 2">
            <a:extLst>
              <a:ext uri="{FF2B5EF4-FFF2-40B4-BE49-F238E27FC236}">
                <a16:creationId xmlns:a16="http://schemas.microsoft.com/office/drawing/2014/main" id="{79400575-E80A-C458-7B91-A585EC277027}"/>
              </a:ext>
            </a:extLst>
          </p:cNvPr>
          <p:cNvSpPr>
            <a:spLocks noGrp="1"/>
          </p:cNvSpPr>
          <p:nvPr>
            <p:ph idx="1"/>
          </p:nvPr>
        </p:nvSpPr>
        <p:spPr/>
        <p:txBody>
          <a:bodyPr/>
          <a:lstStyle/>
          <a:p>
            <a:r>
              <a:rPr lang="en-NZ" dirty="0">
                <a:latin typeface="+mn-lt"/>
              </a:rPr>
              <a:t>2	Work collaboratively, using professional and interpersonal skills, cooperative methods and communication with team members, project sponsor and advisor. </a:t>
            </a:r>
          </a:p>
          <a:p>
            <a:r>
              <a:rPr lang="en-NZ" dirty="0">
                <a:latin typeface="+mn-lt"/>
              </a:rPr>
              <a:t>3	Apply the techniques and knowledge gained throughout the degree programme to research, analyse, design, develop, test and produce a solution</a:t>
            </a:r>
          </a:p>
          <a:p>
            <a:r>
              <a:rPr lang="en-NZ" dirty="0">
                <a:latin typeface="+mn-lt"/>
              </a:rPr>
              <a:t>8	Effectively present the project experience and achievement to an audience including the project sponsor. </a:t>
            </a:r>
          </a:p>
        </p:txBody>
      </p:sp>
    </p:spTree>
    <p:extLst>
      <p:ext uri="{BB962C8B-B14F-4D97-AF65-F5344CB8AC3E}">
        <p14:creationId xmlns:p14="http://schemas.microsoft.com/office/powerpoint/2010/main" val="2631449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951C1-93B0-39A0-12AC-7C0C307C7469}"/>
              </a:ext>
            </a:extLst>
          </p:cNvPr>
          <p:cNvSpPr>
            <a:spLocks noGrp="1"/>
          </p:cNvSpPr>
          <p:nvPr>
            <p:ph type="title"/>
          </p:nvPr>
        </p:nvSpPr>
        <p:spPr/>
        <p:txBody>
          <a:bodyPr/>
          <a:lstStyle/>
          <a:p>
            <a:r>
              <a:rPr lang="en-NZ" dirty="0"/>
              <a:t>Attendees</a:t>
            </a:r>
          </a:p>
        </p:txBody>
      </p:sp>
      <p:sp>
        <p:nvSpPr>
          <p:cNvPr id="3" name="Content Placeholder 2">
            <a:extLst>
              <a:ext uri="{FF2B5EF4-FFF2-40B4-BE49-F238E27FC236}">
                <a16:creationId xmlns:a16="http://schemas.microsoft.com/office/drawing/2014/main" id="{BB851FEA-5D6D-CF22-67E0-7CCC76C9B905}"/>
              </a:ext>
            </a:extLst>
          </p:cNvPr>
          <p:cNvSpPr>
            <a:spLocks noGrp="1"/>
          </p:cNvSpPr>
          <p:nvPr>
            <p:ph idx="1"/>
          </p:nvPr>
        </p:nvSpPr>
        <p:spPr/>
        <p:txBody>
          <a:bodyPr/>
          <a:lstStyle/>
          <a:p>
            <a:r>
              <a:rPr lang="en-NZ" dirty="0">
                <a:latin typeface="+mn-lt"/>
              </a:rPr>
              <a:t>Geoff (Client)</a:t>
            </a:r>
          </a:p>
          <a:p>
            <a:r>
              <a:rPr lang="en-NZ" dirty="0">
                <a:latin typeface="+mn-lt"/>
              </a:rPr>
              <a:t>Olivia Hey (Project Manager)</a:t>
            </a:r>
          </a:p>
          <a:p>
            <a:r>
              <a:rPr lang="en-NZ" dirty="0">
                <a:latin typeface="+mn-lt"/>
              </a:rPr>
              <a:t>Matt Baker</a:t>
            </a:r>
          </a:p>
          <a:p>
            <a:r>
              <a:rPr lang="en-NZ" dirty="0">
                <a:latin typeface="+mn-lt"/>
              </a:rPr>
              <a:t>David Sushames</a:t>
            </a:r>
          </a:p>
          <a:p>
            <a:r>
              <a:rPr lang="en-NZ" dirty="0">
                <a:latin typeface="+mn-lt"/>
              </a:rPr>
              <a:t>Samuel Davies </a:t>
            </a:r>
          </a:p>
          <a:p>
            <a:pPr marL="0" indent="0">
              <a:buNone/>
            </a:pPr>
            <a:endParaRPr lang="en-NZ" dirty="0">
              <a:latin typeface="Century Gothic" panose="020B0502020202020204" pitchFamily="34" charset="0"/>
            </a:endParaRPr>
          </a:p>
        </p:txBody>
      </p:sp>
    </p:spTree>
    <p:extLst>
      <p:ext uri="{BB962C8B-B14F-4D97-AF65-F5344CB8AC3E}">
        <p14:creationId xmlns:p14="http://schemas.microsoft.com/office/powerpoint/2010/main" val="357720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76118-5A18-ED6E-5E3A-52957967C792}"/>
              </a:ext>
            </a:extLst>
          </p:cNvPr>
          <p:cNvSpPr>
            <a:spLocks noGrp="1"/>
          </p:cNvSpPr>
          <p:nvPr>
            <p:ph type="title"/>
          </p:nvPr>
        </p:nvSpPr>
        <p:spPr/>
        <p:txBody>
          <a:bodyPr/>
          <a:lstStyle/>
          <a:p>
            <a:r>
              <a:rPr lang="en-NZ" dirty="0">
                <a:latin typeface="Century Gothic" panose="020B0502020202020204" pitchFamily="34" charset="0"/>
              </a:rPr>
              <a:t>Topics</a:t>
            </a:r>
          </a:p>
        </p:txBody>
      </p:sp>
      <p:sp>
        <p:nvSpPr>
          <p:cNvPr id="3" name="Content Placeholder 2">
            <a:extLst>
              <a:ext uri="{FF2B5EF4-FFF2-40B4-BE49-F238E27FC236}">
                <a16:creationId xmlns:a16="http://schemas.microsoft.com/office/drawing/2014/main" id="{BB9A7524-6160-9FC8-290D-89B8A80D8658}"/>
              </a:ext>
            </a:extLst>
          </p:cNvPr>
          <p:cNvSpPr>
            <a:spLocks noGrp="1"/>
          </p:cNvSpPr>
          <p:nvPr>
            <p:ph idx="1"/>
          </p:nvPr>
        </p:nvSpPr>
        <p:spPr/>
        <p:txBody>
          <a:bodyPr/>
          <a:lstStyle/>
          <a:p>
            <a:r>
              <a:rPr lang="en-NZ" dirty="0">
                <a:latin typeface="Century Gothic" panose="020B0502020202020204" pitchFamily="34" charset="0"/>
              </a:rPr>
              <a:t>Brief description of project.</a:t>
            </a:r>
          </a:p>
          <a:p>
            <a:r>
              <a:rPr lang="en-NZ" dirty="0">
                <a:latin typeface="Century Gothic" panose="020B0502020202020204" pitchFamily="34" charset="0"/>
              </a:rPr>
              <a:t>Milestones and deliverables that have been completed.</a:t>
            </a:r>
          </a:p>
          <a:p>
            <a:r>
              <a:rPr lang="en-NZ" dirty="0">
                <a:latin typeface="Century Gothic" panose="020B0502020202020204" pitchFamily="34" charset="0"/>
              </a:rPr>
              <a:t>How progress has been made.</a:t>
            </a:r>
          </a:p>
          <a:p>
            <a:r>
              <a:rPr lang="en-NZ" dirty="0">
                <a:latin typeface="Century Gothic" panose="020B0502020202020204" pitchFamily="34" charset="0"/>
              </a:rPr>
              <a:t>What is still to be done.</a:t>
            </a:r>
          </a:p>
          <a:p>
            <a:r>
              <a:rPr lang="en-NZ" dirty="0">
                <a:latin typeface="Century Gothic" panose="020B0502020202020204" pitchFamily="34" charset="0"/>
              </a:rPr>
              <a:t>Any changes to timeframes that need to be discussed?</a:t>
            </a:r>
          </a:p>
          <a:p>
            <a:r>
              <a:rPr lang="en-NZ" dirty="0">
                <a:latin typeface="Century Gothic" panose="020B0502020202020204" pitchFamily="34" charset="0"/>
              </a:rPr>
              <a:t>Overall client feedback/satisfaction.</a:t>
            </a:r>
          </a:p>
          <a:p>
            <a:r>
              <a:rPr lang="en-NZ" dirty="0">
                <a:latin typeface="Century Gothic" panose="020B0502020202020204" pitchFamily="34" charset="0"/>
              </a:rPr>
              <a:t>Questions?</a:t>
            </a:r>
          </a:p>
        </p:txBody>
      </p:sp>
    </p:spTree>
    <p:extLst>
      <p:ext uri="{BB962C8B-B14F-4D97-AF65-F5344CB8AC3E}">
        <p14:creationId xmlns:p14="http://schemas.microsoft.com/office/powerpoint/2010/main" val="17170191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5FEAD-9459-4F61-E636-B0591191D4E6}"/>
              </a:ext>
            </a:extLst>
          </p:cNvPr>
          <p:cNvSpPr>
            <a:spLocks noGrp="1"/>
          </p:cNvSpPr>
          <p:nvPr>
            <p:ph type="title"/>
          </p:nvPr>
        </p:nvSpPr>
        <p:spPr/>
        <p:txBody>
          <a:bodyPr/>
          <a:lstStyle/>
          <a:p>
            <a:r>
              <a:rPr lang="en-NZ" dirty="0">
                <a:latin typeface="Century Gothic" panose="020B0502020202020204" pitchFamily="34" charset="0"/>
              </a:rPr>
              <a:t>Brief description of project.</a:t>
            </a:r>
          </a:p>
        </p:txBody>
      </p:sp>
      <p:sp>
        <p:nvSpPr>
          <p:cNvPr id="3" name="Content Placeholder 2">
            <a:extLst>
              <a:ext uri="{FF2B5EF4-FFF2-40B4-BE49-F238E27FC236}">
                <a16:creationId xmlns:a16="http://schemas.microsoft.com/office/drawing/2014/main" id="{14E8D5CD-8731-2633-69BC-1AC0BBF2D643}"/>
              </a:ext>
            </a:extLst>
          </p:cNvPr>
          <p:cNvSpPr>
            <a:spLocks noGrp="1"/>
          </p:cNvSpPr>
          <p:nvPr>
            <p:ph idx="1"/>
          </p:nvPr>
        </p:nvSpPr>
        <p:spPr/>
        <p:txBody>
          <a:bodyPr/>
          <a:lstStyle/>
          <a:p>
            <a:r>
              <a:rPr lang="en-NZ" dirty="0"/>
              <a:t>This project investigates the efficacy of the report output as generated by a human compared to an AI. </a:t>
            </a:r>
            <a:endParaRPr lang="en-NZ" dirty="0">
              <a:latin typeface="Century Gothic" panose="020B0502020202020204" pitchFamily="34" charset="0"/>
            </a:endParaRPr>
          </a:p>
        </p:txBody>
      </p:sp>
    </p:spTree>
    <p:extLst>
      <p:ext uri="{BB962C8B-B14F-4D97-AF65-F5344CB8AC3E}">
        <p14:creationId xmlns:p14="http://schemas.microsoft.com/office/powerpoint/2010/main" val="37555204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0F230-3A14-B66C-477C-5A707C1E83DD}"/>
              </a:ext>
            </a:extLst>
          </p:cNvPr>
          <p:cNvSpPr>
            <a:spLocks noGrp="1"/>
          </p:cNvSpPr>
          <p:nvPr>
            <p:ph type="title"/>
          </p:nvPr>
        </p:nvSpPr>
        <p:spPr/>
        <p:txBody>
          <a:bodyPr>
            <a:normAutofit/>
          </a:bodyPr>
          <a:lstStyle/>
          <a:p>
            <a:r>
              <a:rPr lang="en-NZ" dirty="0">
                <a:latin typeface="Century Gothic" panose="020B0502020202020204" pitchFamily="34" charset="0"/>
              </a:rPr>
              <a:t>Milestones and deliverables that have been completed.</a:t>
            </a:r>
          </a:p>
        </p:txBody>
      </p:sp>
      <p:sp>
        <p:nvSpPr>
          <p:cNvPr id="3" name="Content Placeholder 2">
            <a:extLst>
              <a:ext uri="{FF2B5EF4-FFF2-40B4-BE49-F238E27FC236}">
                <a16:creationId xmlns:a16="http://schemas.microsoft.com/office/drawing/2014/main" id="{7A08BBEA-DC63-C183-A48F-6420D069B876}"/>
              </a:ext>
            </a:extLst>
          </p:cNvPr>
          <p:cNvSpPr>
            <a:spLocks noGrp="1"/>
          </p:cNvSpPr>
          <p:nvPr>
            <p:ph idx="1"/>
          </p:nvPr>
        </p:nvSpPr>
        <p:spPr/>
        <p:txBody>
          <a:bodyPr/>
          <a:lstStyle/>
          <a:p>
            <a:r>
              <a:rPr lang="en-NZ" dirty="0">
                <a:latin typeface="Century Gothic" panose="020B0502020202020204" pitchFamily="34" charset="0"/>
              </a:rPr>
              <a:t>Project proposal completion</a:t>
            </a:r>
          </a:p>
          <a:p>
            <a:r>
              <a:rPr lang="en-NZ" dirty="0">
                <a:latin typeface="Century Gothic" panose="020B0502020202020204" pitchFamily="34" charset="0"/>
              </a:rPr>
              <a:t>Client video completed</a:t>
            </a:r>
          </a:p>
          <a:p>
            <a:pPr marL="0" indent="0">
              <a:buNone/>
            </a:pPr>
            <a:endParaRPr lang="en-NZ" dirty="0">
              <a:latin typeface="Century Gothic" panose="020B0502020202020204" pitchFamily="34" charset="0"/>
            </a:endParaRPr>
          </a:p>
        </p:txBody>
      </p:sp>
    </p:spTree>
    <p:extLst>
      <p:ext uri="{BB962C8B-B14F-4D97-AF65-F5344CB8AC3E}">
        <p14:creationId xmlns:p14="http://schemas.microsoft.com/office/powerpoint/2010/main" val="11564937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07390-5D9E-D38B-8C6D-7AF59C97E173}"/>
              </a:ext>
            </a:extLst>
          </p:cNvPr>
          <p:cNvSpPr>
            <a:spLocks noGrp="1"/>
          </p:cNvSpPr>
          <p:nvPr>
            <p:ph type="title"/>
          </p:nvPr>
        </p:nvSpPr>
        <p:spPr/>
        <p:txBody>
          <a:bodyPr/>
          <a:lstStyle/>
          <a:p>
            <a:r>
              <a:rPr lang="en-NZ" dirty="0">
                <a:latin typeface="Century Gothic" panose="020B0502020202020204" pitchFamily="34" charset="0"/>
              </a:rPr>
              <a:t>How progress has been made?</a:t>
            </a:r>
          </a:p>
        </p:txBody>
      </p:sp>
      <p:sp>
        <p:nvSpPr>
          <p:cNvPr id="3" name="Content Placeholder 2">
            <a:extLst>
              <a:ext uri="{FF2B5EF4-FFF2-40B4-BE49-F238E27FC236}">
                <a16:creationId xmlns:a16="http://schemas.microsoft.com/office/drawing/2014/main" id="{CC6EEA5A-9F43-9FE8-BD39-3261513B255C}"/>
              </a:ext>
            </a:extLst>
          </p:cNvPr>
          <p:cNvSpPr>
            <a:spLocks noGrp="1"/>
          </p:cNvSpPr>
          <p:nvPr>
            <p:ph idx="1"/>
          </p:nvPr>
        </p:nvSpPr>
        <p:spPr/>
        <p:txBody>
          <a:bodyPr>
            <a:normAutofit lnSpcReduction="10000"/>
          </a:bodyPr>
          <a:lstStyle/>
          <a:p>
            <a:r>
              <a:rPr lang="en-NZ" dirty="0">
                <a:latin typeface="Century Gothic" panose="020B0502020202020204" pitchFamily="34" charset="0"/>
              </a:rPr>
              <a:t>Progress has been made in various areas:</a:t>
            </a:r>
          </a:p>
          <a:p>
            <a:pPr lvl="1"/>
            <a:r>
              <a:rPr lang="en-NZ" dirty="0">
                <a:latin typeface="Century Gothic" panose="020B0502020202020204" pitchFamily="34" charset="0"/>
              </a:rPr>
              <a:t>Tool Scope was expanded &amp; subsequently reduced</a:t>
            </a:r>
          </a:p>
          <a:p>
            <a:pPr lvl="2"/>
            <a:r>
              <a:rPr lang="en-NZ" dirty="0">
                <a:latin typeface="Century Gothic" panose="020B0502020202020204" pitchFamily="34" charset="0"/>
              </a:rPr>
              <a:t>Tools selected, Foremost, Wireshark and Nmap. </a:t>
            </a:r>
          </a:p>
          <a:p>
            <a:pPr lvl="1"/>
            <a:r>
              <a:rPr lang="en-NZ" dirty="0">
                <a:latin typeface="Century Gothic" panose="020B0502020202020204" pitchFamily="34" charset="0"/>
              </a:rPr>
              <a:t>New Design Science Research Methodology adopted</a:t>
            </a:r>
          </a:p>
          <a:p>
            <a:pPr marL="0" indent="0">
              <a:buNone/>
            </a:pPr>
            <a:endParaRPr lang="en-NZ" dirty="0">
              <a:latin typeface="Century Gothic" panose="020B0502020202020204" pitchFamily="34" charset="0"/>
            </a:endParaRPr>
          </a:p>
          <a:p>
            <a:r>
              <a:rPr lang="en-NZ" dirty="0">
                <a:latin typeface="Century Gothic" panose="020B0502020202020204" pitchFamily="34" charset="0"/>
              </a:rPr>
              <a:t>Changed from LM studio to Ollama </a:t>
            </a:r>
          </a:p>
          <a:p>
            <a:endParaRPr lang="en-NZ" dirty="0">
              <a:latin typeface="Century Gothic" panose="020B0502020202020204" pitchFamily="34" charset="0"/>
            </a:endParaRPr>
          </a:p>
          <a:p>
            <a:r>
              <a:rPr lang="en-NZ" dirty="0">
                <a:latin typeface="Century Gothic" panose="020B0502020202020204" pitchFamily="34" charset="0"/>
              </a:rPr>
              <a:t>Project philosophy change. (were going and finding AI tools and comparing them to non ai versions, now we are looking at tools and AI reports vs human reports.)</a:t>
            </a:r>
          </a:p>
          <a:p>
            <a:r>
              <a:rPr lang="en-NZ" dirty="0">
                <a:latin typeface="Century Gothic" panose="020B0502020202020204" pitchFamily="34" charset="0"/>
              </a:rPr>
              <a:t>(changed what Geoff expects of us)</a:t>
            </a:r>
          </a:p>
          <a:p>
            <a:pPr lvl="1"/>
            <a:endParaRPr lang="en-NZ" dirty="0">
              <a:latin typeface="Century Gothic" panose="020B0502020202020204" pitchFamily="34" charset="0"/>
            </a:endParaRPr>
          </a:p>
          <a:p>
            <a:pPr lvl="1"/>
            <a:endParaRPr lang="en-NZ" dirty="0">
              <a:latin typeface="Century Gothic" panose="020B0502020202020204" pitchFamily="34" charset="0"/>
            </a:endParaRPr>
          </a:p>
        </p:txBody>
      </p:sp>
    </p:spTree>
    <p:extLst>
      <p:ext uri="{BB962C8B-B14F-4D97-AF65-F5344CB8AC3E}">
        <p14:creationId xmlns:p14="http://schemas.microsoft.com/office/powerpoint/2010/main" val="25308775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0D38A-9B0C-F7EC-7E40-960AD3FE713C}"/>
              </a:ext>
            </a:extLst>
          </p:cNvPr>
          <p:cNvSpPr>
            <a:spLocks noGrp="1"/>
          </p:cNvSpPr>
          <p:nvPr>
            <p:ph type="title"/>
          </p:nvPr>
        </p:nvSpPr>
        <p:spPr/>
        <p:txBody>
          <a:bodyPr/>
          <a:lstStyle/>
          <a:p>
            <a:r>
              <a:rPr lang="en-NZ" dirty="0"/>
              <a:t>Foremost Proof of Concept</a:t>
            </a:r>
          </a:p>
        </p:txBody>
      </p:sp>
      <p:sp>
        <p:nvSpPr>
          <p:cNvPr id="3" name="Content Placeholder 2">
            <a:extLst>
              <a:ext uri="{FF2B5EF4-FFF2-40B4-BE49-F238E27FC236}">
                <a16:creationId xmlns:a16="http://schemas.microsoft.com/office/drawing/2014/main" id="{A1BF2D46-F7DC-B8C3-2E45-C4E0D2A1E1C9}"/>
              </a:ext>
            </a:extLst>
          </p:cNvPr>
          <p:cNvSpPr>
            <a:spLocks noGrp="1"/>
          </p:cNvSpPr>
          <p:nvPr>
            <p:ph idx="1"/>
          </p:nvPr>
        </p:nvSpPr>
        <p:spPr>
          <a:xfrm>
            <a:off x="1104293" y="1577430"/>
            <a:ext cx="8946541" cy="4195481"/>
          </a:xfrm>
        </p:spPr>
        <p:txBody>
          <a:bodyPr>
            <a:normAutofit lnSpcReduction="10000"/>
          </a:bodyPr>
          <a:lstStyle/>
          <a:p>
            <a:r>
              <a:rPr lang="en-US" dirty="0"/>
              <a:t>Foremost “carves” files from forensic disk images. Disk images are bit-by-bit copies of a storage medium. File carving is an essential practice in digital forensics.</a:t>
            </a:r>
          </a:p>
          <a:p>
            <a:r>
              <a:rPr lang="en-US" dirty="0"/>
              <a:t>The team developed a Python 3 script that is used to automate the examination of the “audit.txt” file from Foremost to produce a report.</a:t>
            </a:r>
          </a:p>
          <a:p>
            <a:r>
              <a:rPr lang="en-US" dirty="0"/>
              <a:t>The team also experimented with a script that directly inspects the carved files. Despite promising results, this has been commented out of the script because it has not been optimized yet.</a:t>
            </a:r>
          </a:p>
          <a:p>
            <a:r>
              <a:rPr lang="en-US" dirty="0"/>
              <a:t>The script also serves to record how long the process takes.</a:t>
            </a:r>
          </a:p>
          <a:p>
            <a:r>
              <a:rPr lang="en-US" dirty="0"/>
              <a:t>This effort represents the successful development/integration of AI enhancement to a digital forensics tool.</a:t>
            </a:r>
          </a:p>
          <a:p>
            <a:endParaRPr lang="en-US" dirty="0"/>
          </a:p>
        </p:txBody>
      </p:sp>
    </p:spTree>
    <p:extLst>
      <p:ext uri="{BB962C8B-B14F-4D97-AF65-F5344CB8AC3E}">
        <p14:creationId xmlns:p14="http://schemas.microsoft.com/office/powerpoint/2010/main" val="1251441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2F503-BA1E-2D45-51A6-84F7A82F23EE}"/>
              </a:ext>
            </a:extLst>
          </p:cNvPr>
          <p:cNvSpPr>
            <a:spLocks noGrp="1"/>
          </p:cNvSpPr>
          <p:nvPr>
            <p:ph type="title"/>
          </p:nvPr>
        </p:nvSpPr>
        <p:spPr/>
        <p:txBody>
          <a:bodyPr/>
          <a:lstStyle/>
          <a:p>
            <a:r>
              <a:rPr lang="en-NZ" dirty="0"/>
              <a:t>Emerging Insights</a:t>
            </a:r>
          </a:p>
        </p:txBody>
      </p:sp>
      <p:sp>
        <p:nvSpPr>
          <p:cNvPr id="3" name="Content Placeholder 2">
            <a:extLst>
              <a:ext uri="{FF2B5EF4-FFF2-40B4-BE49-F238E27FC236}">
                <a16:creationId xmlns:a16="http://schemas.microsoft.com/office/drawing/2014/main" id="{F2F109EC-CF5E-94D0-6F6D-FCD1015433D6}"/>
              </a:ext>
            </a:extLst>
          </p:cNvPr>
          <p:cNvSpPr>
            <a:spLocks noGrp="1"/>
          </p:cNvSpPr>
          <p:nvPr>
            <p:ph idx="1"/>
          </p:nvPr>
        </p:nvSpPr>
        <p:spPr>
          <a:xfrm>
            <a:off x="1104293" y="2089013"/>
            <a:ext cx="8946541" cy="4195481"/>
          </a:xfrm>
        </p:spPr>
        <p:txBody>
          <a:bodyPr/>
          <a:lstStyle/>
          <a:p>
            <a:r>
              <a:rPr lang="en-US" dirty="0"/>
              <a:t>LLM falsifies names of the target disk image, and version of foremost used. This is because if audit.txt is too large, the context restricts the thinking to the lower half of the text file.</a:t>
            </a:r>
          </a:p>
          <a:p>
            <a:endParaRPr lang="en-US" dirty="0"/>
          </a:p>
          <a:p>
            <a:endParaRPr lang="en-NZ" dirty="0"/>
          </a:p>
        </p:txBody>
      </p:sp>
      <p:pic>
        <p:nvPicPr>
          <p:cNvPr id="7" name="Picture 6">
            <a:extLst>
              <a:ext uri="{FF2B5EF4-FFF2-40B4-BE49-F238E27FC236}">
                <a16:creationId xmlns:a16="http://schemas.microsoft.com/office/drawing/2014/main" id="{37A62E3D-0BE2-059B-5714-5AEFB44D7ADD}"/>
              </a:ext>
            </a:extLst>
          </p:cNvPr>
          <p:cNvPicPr>
            <a:picLocks noChangeAspect="1"/>
          </p:cNvPicPr>
          <p:nvPr/>
        </p:nvPicPr>
        <p:blipFill>
          <a:blip r:embed="rId2"/>
          <a:stretch>
            <a:fillRect/>
          </a:stretch>
        </p:blipFill>
        <p:spPr>
          <a:xfrm>
            <a:off x="1223627" y="4298796"/>
            <a:ext cx="4583378" cy="1172049"/>
          </a:xfrm>
          <a:prstGeom prst="rect">
            <a:avLst/>
          </a:prstGeom>
        </p:spPr>
      </p:pic>
      <p:pic>
        <p:nvPicPr>
          <p:cNvPr id="11" name="Picture 10">
            <a:extLst>
              <a:ext uri="{FF2B5EF4-FFF2-40B4-BE49-F238E27FC236}">
                <a16:creationId xmlns:a16="http://schemas.microsoft.com/office/drawing/2014/main" id="{C18BD18F-68DF-AC29-2D4D-0AD51F8E4A3B}"/>
              </a:ext>
            </a:extLst>
          </p:cNvPr>
          <p:cNvPicPr>
            <a:picLocks noChangeAspect="1"/>
          </p:cNvPicPr>
          <p:nvPr/>
        </p:nvPicPr>
        <p:blipFill>
          <a:blip r:embed="rId3"/>
          <a:stretch>
            <a:fillRect/>
          </a:stretch>
        </p:blipFill>
        <p:spPr>
          <a:xfrm>
            <a:off x="7032153" y="2954288"/>
            <a:ext cx="4365216" cy="3861064"/>
          </a:xfrm>
          <a:prstGeom prst="rect">
            <a:avLst/>
          </a:prstGeom>
        </p:spPr>
      </p:pic>
    </p:spTree>
    <p:extLst>
      <p:ext uri="{BB962C8B-B14F-4D97-AF65-F5344CB8AC3E}">
        <p14:creationId xmlns:p14="http://schemas.microsoft.com/office/powerpoint/2010/main" val="3959275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2EF6F-E112-DB22-11E9-44E4396BFCF0}"/>
              </a:ext>
            </a:extLst>
          </p:cNvPr>
          <p:cNvSpPr>
            <a:spLocks noGrp="1"/>
          </p:cNvSpPr>
          <p:nvPr>
            <p:ph type="title"/>
          </p:nvPr>
        </p:nvSpPr>
        <p:spPr/>
        <p:txBody>
          <a:bodyPr/>
          <a:lstStyle/>
          <a:p>
            <a:r>
              <a:rPr lang="en-NZ" dirty="0">
                <a:latin typeface="Century Gothic" panose="020B0502020202020204" pitchFamily="34" charset="0"/>
              </a:rPr>
              <a:t>What is still to be done?</a:t>
            </a:r>
          </a:p>
        </p:txBody>
      </p:sp>
      <p:sp>
        <p:nvSpPr>
          <p:cNvPr id="3" name="Content Placeholder 2">
            <a:extLst>
              <a:ext uri="{FF2B5EF4-FFF2-40B4-BE49-F238E27FC236}">
                <a16:creationId xmlns:a16="http://schemas.microsoft.com/office/drawing/2014/main" id="{E08B6175-1B96-0215-5195-3A92E08F8001}"/>
              </a:ext>
            </a:extLst>
          </p:cNvPr>
          <p:cNvSpPr>
            <a:spLocks noGrp="1"/>
          </p:cNvSpPr>
          <p:nvPr>
            <p:ph idx="1"/>
          </p:nvPr>
        </p:nvSpPr>
        <p:spPr/>
        <p:txBody>
          <a:bodyPr/>
          <a:lstStyle/>
          <a:p>
            <a:r>
              <a:rPr lang="en-NZ" dirty="0">
                <a:latin typeface="Century Gothic" panose="020B0502020202020204" pitchFamily="34" charset="0"/>
              </a:rPr>
              <a:t>Complete proof of concepts for Wireshark and Nmap</a:t>
            </a:r>
          </a:p>
          <a:p>
            <a:endParaRPr lang="en-NZ" dirty="0">
              <a:latin typeface="Century Gothic" panose="020B0502020202020204" pitchFamily="34" charset="0"/>
            </a:endParaRPr>
          </a:p>
        </p:txBody>
      </p:sp>
    </p:spTree>
    <p:extLst>
      <p:ext uri="{BB962C8B-B14F-4D97-AF65-F5344CB8AC3E}">
        <p14:creationId xmlns:p14="http://schemas.microsoft.com/office/powerpoint/2010/main" val="23606158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5CB6E-FD33-4419-FD29-5EB30403054C}"/>
              </a:ext>
            </a:extLst>
          </p:cNvPr>
          <p:cNvSpPr>
            <a:spLocks noGrp="1"/>
          </p:cNvSpPr>
          <p:nvPr>
            <p:ph type="title"/>
          </p:nvPr>
        </p:nvSpPr>
        <p:spPr/>
        <p:txBody>
          <a:bodyPr>
            <a:normAutofit/>
          </a:bodyPr>
          <a:lstStyle/>
          <a:p>
            <a:r>
              <a:rPr lang="en-NZ" dirty="0">
                <a:latin typeface="Century Gothic" panose="020B0502020202020204" pitchFamily="34" charset="0"/>
              </a:rPr>
              <a:t>Any changes to timeframes that need to be discussed?</a:t>
            </a:r>
          </a:p>
        </p:txBody>
      </p:sp>
      <p:sp>
        <p:nvSpPr>
          <p:cNvPr id="3" name="Content Placeholder 2">
            <a:extLst>
              <a:ext uri="{FF2B5EF4-FFF2-40B4-BE49-F238E27FC236}">
                <a16:creationId xmlns:a16="http://schemas.microsoft.com/office/drawing/2014/main" id="{F342F351-5F23-6D92-03AC-5C25C11D2796}"/>
              </a:ext>
            </a:extLst>
          </p:cNvPr>
          <p:cNvSpPr>
            <a:spLocks noGrp="1"/>
          </p:cNvSpPr>
          <p:nvPr>
            <p:ph idx="1"/>
          </p:nvPr>
        </p:nvSpPr>
        <p:spPr/>
        <p:txBody>
          <a:bodyPr/>
          <a:lstStyle/>
          <a:p>
            <a:r>
              <a:rPr lang="en-NZ" dirty="0">
                <a:latin typeface="Century Gothic" panose="020B0502020202020204" pitchFamily="34" charset="0"/>
              </a:rPr>
              <a:t>The time frame has been shifted due to Capstone proposal taking longer than expected. </a:t>
            </a:r>
          </a:p>
        </p:txBody>
      </p:sp>
    </p:spTree>
    <p:extLst>
      <p:ext uri="{BB962C8B-B14F-4D97-AF65-F5344CB8AC3E}">
        <p14:creationId xmlns:p14="http://schemas.microsoft.com/office/powerpoint/2010/main" val="683569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F9A50-08D3-B5BA-98EE-2A5CB574A435}"/>
              </a:ext>
            </a:extLst>
          </p:cNvPr>
          <p:cNvSpPr>
            <a:spLocks noGrp="1"/>
          </p:cNvSpPr>
          <p:nvPr>
            <p:ph type="title"/>
          </p:nvPr>
        </p:nvSpPr>
        <p:spPr>
          <a:xfrm>
            <a:off x="1177584" y="2728735"/>
            <a:ext cx="9836832" cy="1400530"/>
          </a:xfrm>
        </p:spPr>
        <p:txBody>
          <a:bodyPr/>
          <a:lstStyle/>
          <a:p>
            <a:r>
              <a:rPr lang="en-NZ" dirty="0">
                <a:latin typeface="Century Gothic" panose="020B0502020202020204" pitchFamily="34" charset="0"/>
              </a:rPr>
              <a:t>Overall client feedback/satisfaction </a:t>
            </a:r>
          </a:p>
        </p:txBody>
      </p:sp>
    </p:spTree>
    <p:extLst>
      <p:ext uri="{BB962C8B-B14F-4D97-AF65-F5344CB8AC3E}">
        <p14:creationId xmlns:p14="http://schemas.microsoft.com/office/powerpoint/2010/main" val="3009353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248A7-11EF-57E1-0E47-93613A91F2E8}"/>
              </a:ext>
            </a:extLst>
          </p:cNvPr>
          <p:cNvSpPr>
            <a:spLocks noGrp="1"/>
          </p:cNvSpPr>
          <p:nvPr>
            <p:ph type="title"/>
          </p:nvPr>
        </p:nvSpPr>
        <p:spPr>
          <a:xfrm>
            <a:off x="3542619" y="2592161"/>
            <a:ext cx="5106761" cy="1673678"/>
          </a:xfrm>
        </p:spPr>
        <p:txBody>
          <a:bodyPr>
            <a:noAutofit/>
          </a:bodyPr>
          <a:lstStyle/>
          <a:p>
            <a:r>
              <a:rPr lang="en-NZ" sz="7200" dirty="0">
                <a:latin typeface="Century Gothic" panose="020B0502020202020204" pitchFamily="34" charset="0"/>
              </a:rPr>
              <a:t>Questions?</a:t>
            </a:r>
          </a:p>
        </p:txBody>
      </p:sp>
    </p:spTree>
    <p:extLst>
      <p:ext uri="{BB962C8B-B14F-4D97-AF65-F5344CB8AC3E}">
        <p14:creationId xmlns:p14="http://schemas.microsoft.com/office/powerpoint/2010/main" val="325950174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1783</TotalTime>
  <Words>477</Words>
  <Application>Microsoft Office PowerPoint</Application>
  <PresentationFormat>Widescreen</PresentationFormat>
  <Paragraphs>50</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Century Gothic</vt:lpstr>
      <vt:lpstr>Wingdings 3</vt:lpstr>
      <vt:lpstr>Ion</vt:lpstr>
      <vt:lpstr>Mid Project Presentation</vt:lpstr>
      <vt:lpstr>Learning Outcomes (LOs)</vt:lpstr>
      <vt:lpstr>Attendees</vt:lpstr>
      <vt:lpstr>Topics</vt:lpstr>
      <vt:lpstr>Brief description of project.</vt:lpstr>
      <vt:lpstr>Milestones and deliverables that have been completed.</vt:lpstr>
      <vt:lpstr>How progress has been made?</vt:lpstr>
      <vt:lpstr>Foremost Proof of Concept</vt:lpstr>
      <vt:lpstr>Emerging Insights</vt:lpstr>
      <vt:lpstr>What is still to be done?</vt:lpstr>
      <vt:lpstr>Any changes to timeframes that need to be discussed?</vt:lpstr>
      <vt:lpstr>Overall client feedback/satisfaction </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 Davies</dc:creator>
  <cp:lastModifiedBy>Matt Baker</cp:lastModifiedBy>
  <cp:revision>8</cp:revision>
  <dcterms:created xsi:type="dcterms:W3CDTF">2026-09-07T23:48:56Z</dcterms:created>
  <dcterms:modified xsi:type="dcterms:W3CDTF">2026-09-12T08:49:51Z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6e7f387-1815-4007-b22e-dbfac1fba8aa_Enabled">
    <vt:lpwstr>true</vt:lpwstr>
  </property>
  <property fmtid="{D5CDD505-2E9C-101B-9397-08002B2CF9AE}" pid="3" name="MSIP_Label_46e7f387-1815-4007-b22e-dbfac1fba8aa_SetDate">
    <vt:lpwstr>2026-09-07T23:48:56Z</vt:lpwstr>
  </property>
  <property fmtid="{D5CDD505-2E9C-101B-9397-08002B2CF9AE}" pid="4" name="MSIP_Label_46e7f387-1815-4007-b22e-dbfac1fba8aa_Method">
    <vt:lpwstr>Standard</vt:lpwstr>
  </property>
  <property fmtid="{D5CDD505-2E9C-101B-9397-08002B2CF9AE}" pid="5" name="MSIP_Label_46e7f387-1815-4007-b22e-dbfac1fba8aa_Name">
    <vt:lpwstr>defa4170-0d19-0005-0004-bc88714345d2</vt:lpwstr>
  </property>
  <property fmtid="{D5CDD505-2E9C-101B-9397-08002B2CF9AE}" pid="6" name="MSIP_Label_46e7f387-1815-4007-b22e-dbfac1fba8aa_SiteId">
    <vt:lpwstr>1ae31382-9a17-4ce4-b300-161b0fa8f4b8</vt:lpwstr>
  </property>
  <property fmtid="{D5CDD505-2E9C-101B-9397-08002B2CF9AE}" pid="7" name="MSIP_Label_46e7f387-1815-4007-b22e-dbfac1fba8aa_ActionId">
    <vt:lpwstr>157ff331-9569-4325-b3ba-e4c568c88a67</vt:lpwstr>
  </property>
  <property fmtid="{D5CDD505-2E9C-101B-9397-08002B2CF9AE}" pid="8" name="MSIP_Label_46e7f387-1815-4007-b22e-dbfac1fba8aa_ContentBits">
    <vt:lpwstr>0</vt:lpwstr>
  </property>
  <property fmtid="{D5CDD505-2E9C-101B-9397-08002B2CF9AE}" pid="9" name="MSIP_Label_46e7f387-1815-4007-b22e-dbfac1fba8aa_Tag">
    <vt:lpwstr>10, 3, 0, 1</vt:lpwstr>
  </property>
</Properties>
</file>